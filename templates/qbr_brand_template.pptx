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5"/>
  </p:notesMasterIdLst>
  <p:sldIdLst>
    <p:sldId id="553" r:id="rId5"/>
    <p:sldId id="554" r:id="rId6"/>
    <p:sldId id="555" r:id="rId7"/>
    <p:sldId id="556" r:id="rId8"/>
    <p:sldId id="557" r:id="rId9"/>
    <p:sldId id="567" r:id="rId10"/>
    <p:sldId id="564" r:id="rId11"/>
    <p:sldId id="566" r:id="rId12"/>
    <p:sldId id="565" r:id="rId13"/>
    <p:sldId id="562" r:id="rId14"/>
  </p:sldIdLst>
  <p:sldSz cx="18288000" cy="10287000"/>
  <p:notesSz cx="6858000" cy="9144000"/>
  <p:embeddedFontLst>
    <p:embeddedFont>
      <p:font typeface="Arial Narrow" panose="020B0606020202030204" pitchFamily="34" charset="0"/>
      <p:regular r:id="rId16"/>
      <p:bold r:id="rId17"/>
      <p:italic r:id="rId18"/>
      <p:boldItalic r:id="rId19"/>
    </p:embeddedFont>
    <p:embeddedFont>
      <p:font typeface="Myriad Pro 1" panose="020B0604020202020204" charset="0"/>
      <p:regular r:id="rId20"/>
      <p:bold r:id="rId21"/>
      <p: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1B5BA2D-7D3E-438E-AD5D-1A20FBA5B451}">
          <p14:sldIdLst>
            <p14:sldId id="553"/>
            <p14:sldId id="554"/>
            <p14:sldId id="555"/>
            <p14:sldId id="556"/>
            <p14:sldId id="557"/>
            <p14:sldId id="567"/>
            <p14:sldId id="564"/>
            <p14:sldId id="566"/>
            <p14:sldId id="565"/>
            <p14:sldId id="562"/>
          </p14:sldIdLst>
        </p14:section>
        <p14:section name="QBR" id="{3CF068D1-14F0-4F11-8686-6139F08A5C6C}">
          <p14:sldIdLst/>
        </p14:section>
        <p14:section name="Appendix" id="{F2DCE109-97B2-4705-9A90-8DA8785B1EF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6464"/>
    <a:srgbClr val="0046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42E245-6FAF-4A1B-8857-E8BF8A3DD353}" v="31" dt="2026-05-19T18:41:31.9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3" autoAdjust="0"/>
    <p:restoredTop sz="95920" autoAdjust="0"/>
  </p:normalViewPr>
  <p:slideViewPr>
    <p:cSldViewPr>
      <p:cViewPr varScale="1">
        <p:scale>
          <a:sx n="54" d="100"/>
          <a:sy n="54" d="100"/>
        </p:scale>
        <p:origin x="705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483745-6E6E-6548-8FFE-28AA1CB15C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8CC84-1D59-1442-8776-3590A02B7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74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o not remove" hidden="1">
            <a:extLst>
              <a:ext uri="{FF2B5EF4-FFF2-40B4-BE49-F238E27FC236}">
                <a16:creationId xmlns:a16="http://schemas.microsoft.com/office/drawing/2014/main" id="{1D236CD6-E806-B60B-D6DD-56CCB6249B1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A970F68-BA44-3EEE-105E-E4BF6A96D235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6011238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04" imgH="405" progId="TCLayout.ActiveDocument.1">
                  <p:embed/>
                </p:oleObj>
              </mc:Choice>
              <mc:Fallback>
                <p:oleObj name="think-cell Slide" r:id="rId14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A970F68-BA44-3EEE-105E-E4BF6A96D2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image" Target="../media/image2.png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9.xml"/><Relationship Id="rId10" Type="http://schemas.openxmlformats.org/officeDocument/2006/relationships/tags" Target="../tags/tag14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image" Target="../media/image1.emf"/><Relationship Id="rId50" Type="http://schemas.openxmlformats.org/officeDocument/2006/relationships/image" Target="../media/image5.png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slideLayout" Target="../slideLayouts/slideLayout7.xml"/><Relationship Id="rId5" Type="http://schemas.openxmlformats.org/officeDocument/2006/relationships/tags" Target="../tags/tag19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image" Target="../media/image2.png"/><Relationship Id="rId10" Type="http://schemas.openxmlformats.org/officeDocument/2006/relationships/tags" Target="../tags/tag24.xml"/><Relationship Id="rId19" Type="http://schemas.openxmlformats.org/officeDocument/2006/relationships/tags" Target="../tags/tag33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image" Target="../media/image6.png"/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oleObject" Target="../embeddings/oleObject2.bin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1" Type="http://schemas.openxmlformats.org/officeDocument/2006/relationships/tags" Target="../tags/tag15.xml"/><Relationship Id="rId6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image" Target="../media/image2.png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image" Target="../media/image6.pn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63.xml"/><Relationship Id="rId10" Type="http://schemas.openxmlformats.org/officeDocument/2006/relationships/tags" Target="../tags/tag68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8E745-55BB-5C62-2B41-AE7F3361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6301EF9-EFB0-37A6-36DD-350F39B70E6E}"/>
              </a:ext>
            </a:extLst>
          </p:cNvPr>
          <p:cNvSpPr txBox="1"/>
          <p:nvPr/>
        </p:nvSpPr>
        <p:spPr>
          <a:xfrm>
            <a:off x="1028699" y="1263336"/>
            <a:ext cx="11239005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39"/>
              </a:lnSpc>
              <a:spcBef>
                <a:spcPct val="0"/>
              </a:spcBef>
            </a:pPr>
            <a:r>
              <a:rPr lang="en-US" sz="6999" b="1" noProof="0" dirty="0">
                <a:solidFill>
                  <a:srgbClr val="00467F"/>
                </a:solidFill>
                <a:latin typeface="Arial" panose="020B0604020202020204" pitchFamily="34" charset="0"/>
                <a:cs typeface="Arial" panose="020B0604020202020204" pitchFamily="34" charset="0"/>
                <a:sym typeface="Myriad Pro 2"/>
              </a:rPr>
              <a:t>Context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11418EE-F2E1-C0CA-6DC5-51C6BE0FE93C}"/>
              </a:ext>
            </a:extLst>
          </p:cNvPr>
          <p:cNvSpPr txBox="1"/>
          <p:nvPr/>
        </p:nvSpPr>
        <p:spPr>
          <a:xfrm>
            <a:off x="1028738" y="3086100"/>
            <a:ext cx="16230562" cy="5318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 Narrow"/>
                <a:sym typeface="Myriad Pro 1"/>
              </a:rPr>
              <a:t>Organic growth has slowed over the past few years</a:t>
            </a: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Arial Narrow"/>
              <a:sym typeface="Myriad Pro 1"/>
            </a:endParaRP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 Narrow"/>
                <a:sym typeface="Myriad Pro 1"/>
              </a:rPr>
              <a:t>The market we operate in is tougher and competition is more aggressive</a:t>
            </a: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Arial Narrow"/>
              <a:sym typeface="Myriad Pro 1"/>
            </a:endParaRP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 Narrow"/>
                <a:sym typeface="Myriad Pro 1"/>
              </a:rPr>
              <a:t>We are losing key clients in ways that materially impact our financial performance</a:t>
            </a: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Arial Narrow"/>
              <a:sym typeface="Myriad Pro 1"/>
            </a:endParaRP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 Narrow"/>
                <a:sym typeface="Myriad Pro 1"/>
              </a:rPr>
              <a:t>Retaining these clients is now a strategic priority on par with growth</a:t>
            </a: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Arial Narrow"/>
              <a:sym typeface="Myriad Pro 1"/>
            </a:endParaRP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 Narrow"/>
                <a:sym typeface="Myriad Pro 1"/>
              </a:rPr>
              <a:t>The direction is clear: get closer to our clients, increase face time with decision-makers, and act before issues escalate</a:t>
            </a: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Arial Narrow"/>
              <a:sym typeface="Myriad Pro 1"/>
            </a:endParaRP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 Narrow"/>
                <a:sym typeface="Myriad Pro 1"/>
              </a:rPr>
              <a:t>We are rolling out structured Quarterly Business Reviews (QBRs) with our priority accounts</a:t>
            </a:r>
          </a:p>
        </p:txBody>
      </p:sp>
      <p:pic>
        <p:nvPicPr>
          <p:cNvPr id="26" name="Picture 25" descr="A blue and red logo&#10;&#10;AI-generated content may be incorrect.">
            <a:extLst>
              <a:ext uri="{FF2B5EF4-FFF2-40B4-BE49-F238E27FC236}">
                <a16:creationId xmlns:a16="http://schemas.microsoft.com/office/drawing/2014/main" id="{C8D1CF52-3F82-3486-39B3-7B08CE68C7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9311" y="420993"/>
            <a:ext cx="2052664" cy="38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41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00F68-6E81-C7BB-50BC-C72950B83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9E59238-087D-6B29-B058-2BD3E1CE6FEF}"/>
              </a:ext>
            </a:extLst>
          </p:cNvPr>
          <p:cNvSpPr txBox="1"/>
          <p:nvPr/>
        </p:nvSpPr>
        <p:spPr>
          <a:xfrm>
            <a:off x="1028699" y="1263336"/>
            <a:ext cx="16913276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39"/>
              </a:lnSpc>
              <a:spcBef>
                <a:spcPct val="0"/>
              </a:spcBef>
            </a:pPr>
            <a:r>
              <a:rPr lang="en-US" sz="6999" b="1" noProof="0" dirty="0">
                <a:solidFill>
                  <a:srgbClr val="00467F"/>
                </a:solidFill>
                <a:latin typeface="Arial" panose="020B0604020202020204" pitchFamily="34" charset="0"/>
                <a:cs typeface="Arial" panose="020B0604020202020204" pitchFamily="34" charset="0"/>
                <a:sym typeface="Myriad Pro 2"/>
              </a:rPr>
              <a:t>QBR</a:t>
            </a:r>
          </a:p>
        </p:txBody>
      </p:sp>
      <p:pic>
        <p:nvPicPr>
          <p:cNvPr id="3" name="Picture 2" descr="A blue and red logo&#10;&#10;AI-generated content may be incorrect.">
            <a:extLst>
              <a:ext uri="{FF2B5EF4-FFF2-40B4-BE49-F238E27FC236}">
                <a16:creationId xmlns:a16="http://schemas.microsoft.com/office/drawing/2014/main" id="{D637748C-8950-DEF7-782F-5B5A6DF992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9311" y="420993"/>
            <a:ext cx="2052664" cy="385234"/>
          </a:xfrm>
          <a:prstGeom prst="rect">
            <a:avLst/>
          </a:prstGeom>
        </p:spPr>
      </p:pic>
      <p:sp>
        <p:nvSpPr>
          <p:cNvPr id="5" name="TextBox 14">
            <a:extLst>
              <a:ext uri="{FF2B5EF4-FFF2-40B4-BE49-F238E27FC236}">
                <a16:creationId xmlns:a16="http://schemas.microsoft.com/office/drawing/2014/main" id="{4434316C-F876-7FBD-3182-1143F617F048}"/>
              </a:ext>
            </a:extLst>
          </p:cNvPr>
          <p:cNvSpPr txBox="1"/>
          <p:nvPr/>
        </p:nvSpPr>
        <p:spPr>
          <a:xfrm>
            <a:off x="1028738" y="3086100"/>
            <a:ext cx="16230562" cy="4875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 Narrow"/>
                <a:sym typeface="Myriad Pro 1"/>
              </a:rPr>
              <a:t>Standard practice in high-performing service organizations worldwide</a:t>
            </a: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Arial Narrow"/>
              <a:sym typeface="Myriad Pro 1"/>
            </a:endParaRP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 Narrow"/>
                <a:sym typeface="Myriad Pro 1"/>
              </a:rPr>
              <a:t>Shift from reactive account management to a proactive, structured approach</a:t>
            </a: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Arial Narrow"/>
              <a:sym typeface="Myriad Pro 1"/>
            </a:endParaRP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 Narrow"/>
                <a:sym typeface="Myriad Pro 1"/>
              </a:rPr>
              <a:t>Proven benefits:</a:t>
            </a:r>
          </a:p>
          <a:p>
            <a:pPr marL="914400" lvl="1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 Narrow"/>
                <a:sym typeface="Myriad Pro 1"/>
              </a:rPr>
              <a:t>Increased retention of strategic accounts</a:t>
            </a:r>
          </a:p>
          <a:p>
            <a:pPr marL="914400" lvl="1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 Narrow"/>
                <a:sym typeface="Myriad Pro 1"/>
              </a:rPr>
              <a:t>Strengthened relationships with the right decision-makers</a:t>
            </a:r>
          </a:p>
          <a:p>
            <a:pPr marL="914400" lvl="1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 Narrow"/>
                <a:sym typeface="Myriad Pro 1"/>
              </a:rPr>
              <a:t>Identification of growth opportunities (extras, complementary services)</a:t>
            </a: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Arial Narrow"/>
              <a:sym typeface="Myriad Pro 1"/>
            </a:endParaRP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 Narrow"/>
                <a:sym typeface="Myriad Pro 1"/>
              </a:rPr>
              <a:t>Standardized QBR template across the organization, designed to simplify preparation, save Operations time, and ensure consistent quality</a:t>
            </a:r>
          </a:p>
        </p:txBody>
      </p:sp>
    </p:spTree>
    <p:extLst>
      <p:ext uri="{BB962C8B-B14F-4D97-AF65-F5344CB8AC3E}">
        <p14:creationId xmlns:p14="http://schemas.microsoft.com/office/powerpoint/2010/main" val="780750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2443-87C6-CEC6-8B07-98763176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26386FD-735E-8F29-FAB5-FF6105638495}"/>
              </a:ext>
            </a:extLst>
          </p:cNvPr>
          <p:cNvSpPr txBox="1"/>
          <p:nvPr/>
        </p:nvSpPr>
        <p:spPr>
          <a:xfrm>
            <a:off x="1028699" y="1263336"/>
            <a:ext cx="11239005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3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00467F"/>
                </a:solidFill>
                <a:latin typeface="Arial" panose="020B0604020202020204" pitchFamily="34" charset="0"/>
                <a:cs typeface="Arial" panose="020B0604020202020204" pitchFamily="34" charset="0"/>
                <a:sym typeface="Myriad Pro 2"/>
              </a:rPr>
              <a:t>Instructions</a:t>
            </a:r>
            <a:endParaRPr lang="en-US" sz="6999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  <a:sym typeface="Myriad Pro 2"/>
            </a:endParaRPr>
          </a:p>
        </p:txBody>
      </p:sp>
      <p:pic>
        <p:nvPicPr>
          <p:cNvPr id="3" name="Picture 2" descr="A blue and red logo&#10;&#10;AI-generated content may be incorrect.">
            <a:extLst>
              <a:ext uri="{FF2B5EF4-FFF2-40B4-BE49-F238E27FC236}">
                <a16:creationId xmlns:a16="http://schemas.microsoft.com/office/drawing/2014/main" id="{A0E5F285-1349-2035-4675-732FB8685A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9311" y="420993"/>
            <a:ext cx="2052664" cy="385234"/>
          </a:xfrm>
          <a:prstGeom prst="rect">
            <a:avLst/>
          </a:prstGeom>
        </p:spPr>
      </p:pic>
      <p:sp>
        <p:nvSpPr>
          <p:cNvPr id="5" name="TextBox 14">
            <a:extLst>
              <a:ext uri="{FF2B5EF4-FFF2-40B4-BE49-F238E27FC236}">
                <a16:creationId xmlns:a16="http://schemas.microsoft.com/office/drawing/2014/main" id="{FCE70ED6-3E10-4454-9E7D-96A0EC7CE9A8}"/>
              </a:ext>
            </a:extLst>
          </p:cNvPr>
          <p:cNvSpPr txBox="1"/>
          <p:nvPr/>
        </p:nvSpPr>
        <p:spPr>
          <a:xfrm>
            <a:off x="1028738" y="3086099"/>
            <a:ext cx="8343862" cy="457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sz="3200" b="1" dirty="0">
                <a:solidFill>
                  <a:srgbClr val="000000"/>
                </a:solidFill>
                <a:latin typeface="Arial Narrow"/>
                <a:sym typeface="Myriad Pro 1"/>
              </a:rPr>
              <a:t>Before the meeting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CDB1E20-8374-C497-0FBE-1E3CDC1FD5F0}"/>
              </a:ext>
            </a:extLst>
          </p:cNvPr>
          <p:cNvSpPr/>
          <p:nvPr/>
        </p:nvSpPr>
        <p:spPr>
          <a:xfrm>
            <a:off x="1028700" y="3771900"/>
            <a:ext cx="8343932" cy="0"/>
          </a:xfrm>
          <a:prstGeom prst="line">
            <a:avLst/>
          </a:prstGeom>
          <a:ln w="19050" cap="flat">
            <a:solidFill>
              <a:srgbClr val="6464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CF9FA9-20B5-4E72-48EB-3ABCB16063B2}"/>
              </a:ext>
            </a:extLst>
          </p:cNvPr>
          <p:cNvSpPr txBox="1"/>
          <p:nvPr/>
        </p:nvSpPr>
        <p:spPr>
          <a:xfrm>
            <a:off x="11734800" y="3086099"/>
            <a:ext cx="5541562" cy="457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sz="3200" b="1" dirty="0">
                <a:solidFill>
                  <a:srgbClr val="000000"/>
                </a:solidFill>
                <a:latin typeface="Arial Narrow"/>
                <a:sym typeface="Myriad Pro 1"/>
              </a:rPr>
              <a:t>After the meeting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BEADCA70-D733-F876-47A7-989ABB840C38}"/>
              </a:ext>
            </a:extLst>
          </p:cNvPr>
          <p:cNvSpPr/>
          <p:nvPr/>
        </p:nvSpPr>
        <p:spPr>
          <a:xfrm>
            <a:off x="11734754" y="3771900"/>
            <a:ext cx="5541608" cy="0"/>
          </a:xfrm>
          <a:prstGeom prst="line">
            <a:avLst/>
          </a:prstGeom>
          <a:ln w="19050" cap="flat">
            <a:solidFill>
              <a:srgbClr val="6464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F151EF2D-BA44-7DB1-71C2-E9F27E9E85F8}"/>
              </a:ext>
            </a:extLst>
          </p:cNvPr>
          <p:cNvSpPr txBox="1"/>
          <p:nvPr/>
        </p:nvSpPr>
        <p:spPr>
          <a:xfrm>
            <a:off x="1028738" y="4225132"/>
            <a:ext cx="8343862" cy="4681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Arial Narrow"/>
                <a:sym typeface="Myriad Pro 1"/>
              </a:rPr>
              <a:t>Mobilize the right internal people (VP Ops, Director, Account Manager) and confirm roles</a:t>
            </a: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0000"/>
              </a:solidFill>
              <a:latin typeface="Arial Narrow"/>
              <a:sym typeface="Myriad Pro 1"/>
            </a:endParaRP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Arial Narrow"/>
                <a:sym typeface="Myriad Pro 1"/>
              </a:rPr>
              <a:t>Confirm the date, format, and the right client-side participants (decision-makers)</a:t>
            </a: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0000"/>
              </a:solidFill>
              <a:latin typeface="Arial Narrow"/>
              <a:sym typeface="Myriad Pro 1"/>
            </a:endParaRP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Arial Narrow"/>
                <a:sym typeface="Myriad Pro 1"/>
              </a:rPr>
              <a:t>Review the template as a team: align on content, metrics, and key messages</a:t>
            </a: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0000"/>
              </a:solidFill>
              <a:latin typeface="Arial Narrow"/>
              <a:sym typeface="Myriad Pro 1"/>
            </a:endParaRP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Arial Narrow"/>
                <a:sym typeface="Myriad Pro 1"/>
              </a:rPr>
              <a:t>Validate all data. No surprises on meeting day</a:t>
            </a: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0000"/>
              </a:solidFill>
              <a:latin typeface="Arial Narrow"/>
              <a:sym typeface="Myriad Pro 1"/>
            </a:endParaRP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Arial Narrow"/>
                <a:sym typeface="Myriad Pro 1"/>
              </a:rPr>
              <a:t>Complete the internal review of the final document at least 3-5 days before the presentation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7DE9BA-F374-14A8-8E32-3AE892650C01}"/>
              </a:ext>
            </a:extLst>
          </p:cNvPr>
          <p:cNvSpPr txBox="1"/>
          <p:nvPr/>
        </p:nvSpPr>
        <p:spPr>
          <a:xfrm>
            <a:off x="11734800" y="4225132"/>
            <a:ext cx="5541562" cy="2160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Arial Narrow"/>
                <a:sym typeface="Myriad Pro 1"/>
              </a:rPr>
              <a:t>Document commitments and owners. These actions become the starting point of the next QBR</a:t>
            </a: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0000"/>
              </a:solidFill>
              <a:latin typeface="Arial Narrow"/>
              <a:sym typeface="Myriad Pro 1"/>
            </a:endParaRPr>
          </a:p>
          <a:p>
            <a:pPr marL="457200" indent="-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Arial Narrow"/>
                <a:sym typeface="Myriad Pro 1"/>
              </a:rPr>
              <a:t>Follow the internal process for quarterly business reviews</a:t>
            </a:r>
          </a:p>
        </p:txBody>
      </p:sp>
    </p:spTree>
    <p:extLst>
      <p:ext uri="{BB962C8B-B14F-4D97-AF65-F5344CB8AC3E}">
        <p14:creationId xmlns:p14="http://schemas.microsoft.com/office/powerpoint/2010/main" val="2140497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2F26A-7AD1-11F1-EF9E-E538D48CF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E128CC12-3195-4D7A-F37A-6A5E3ED54B1C}"/>
              </a:ext>
            </a:extLst>
          </p:cNvPr>
          <p:cNvSpPr/>
          <p:nvPr/>
        </p:nvSpPr>
        <p:spPr>
          <a:xfrm rot="-5400000">
            <a:off x="4000501" y="-4000502"/>
            <a:ext cx="10287002" cy="18288001"/>
          </a:xfrm>
          <a:custGeom>
            <a:avLst/>
            <a:gdLst/>
            <a:ahLst/>
            <a:cxnLst/>
            <a:rect l="l" t="t" r="r" b="b"/>
            <a:pathLst>
              <a:path w="15675429" h="14460489">
                <a:moveTo>
                  <a:pt x="0" y="0"/>
                </a:moveTo>
                <a:lnTo>
                  <a:pt x="15675429" y="0"/>
                </a:lnTo>
                <a:lnTo>
                  <a:pt x="15675429" y="14460490"/>
                </a:lnTo>
                <a:lnTo>
                  <a:pt x="0" y="14460490"/>
                </a:lnTo>
                <a:lnTo>
                  <a:pt x="0" y="0"/>
                </a:lnTo>
                <a:close/>
              </a:path>
            </a:pathLst>
          </a:custGeom>
          <a:solidFill>
            <a:srgbClr val="002060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2EAC11B-18AD-7142-C0BB-B6D83263C26A}"/>
              </a:ext>
            </a:extLst>
          </p:cNvPr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8D14066-4F1A-7E7B-A703-40A49A4C6B57}"/>
              </a:ext>
            </a:extLst>
          </p:cNvPr>
          <p:cNvSpPr txBox="1"/>
          <p:nvPr/>
        </p:nvSpPr>
        <p:spPr>
          <a:xfrm>
            <a:off x="1028699" y="3139300"/>
            <a:ext cx="14135099" cy="1705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294"/>
              </a:lnSpc>
            </a:pPr>
            <a:r>
              <a:rPr lang="en-US" sz="13033" b="1" dirty="0">
                <a:solidFill>
                  <a:srgbClr val="FFFFFF"/>
                </a:solidFill>
                <a:latin typeface="Arial" panose="020B0604020202020204" pitchFamily="34" charset="0"/>
                <a:ea typeface="Myriad Pro 2"/>
                <a:cs typeface="Arial" panose="020B0604020202020204" pitchFamily="34" charset="0"/>
                <a:sym typeface="Myriad Pro 2"/>
              </a:rPr>
              <a:t>Galeries d’Anjou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BA36810-3CA7-487F-15FB-CA770F452C74}"/>
              </a:ext>
            </a:extLst>
          </p:cNvPr>
          <p:cNvSpPr txBox="1"/>
          <p:nvPr/>
        </p:nvSpPr>
        <p:spPr>
          <a:xfrm>
            <a:off x="1028699" y="6798099"/>
            <a:ext cx="8083399" cy="105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Myriad Pro 3"/>
                <a:cs typeface="Arial" panose="020B0604020202020204" pitchFamily="34" charset="0"/>
                <a:sym typeface="Myriad Pro 3"/>
              </a:rPr>
              <a:t>Q1 2024</a:t>
            </a:r>
          </a:p>
          <a:p>
            <a:pPr algn="l">
              <a:lnSpc>
                <a:spcPts val="42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Myriad Pro 3"/>
                <a:cs typeface="Arial" panose="020B0604020202020204" pitchFamily="34" charset="0"/>
                <a:sym typeface="Myriad Pro 3"/>
              </a:rPr>
              <a:t>Quarterly Business Review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132E10A-CFA6-F4FF-3B6A-28F42D694F77}"/>
              </a:ext>
            </a:extLst>
          </p:cNvPr>
          <p:cNvSpPr txBox="1"/>
          <p:nvPr/>
        </p:nvSpPr>
        <p:spPr>
          <a:xfrm>
            <a:off x="15743254" y="9489093"/>
            <a:ext cx="1516046" cy="327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FFFFFF"/>
                </a:solidFill>
                <a:latin typeface="Arial" panose="020B0604020202020204" pitchFamily="34" charset="0"/>
                <a:ea typeface="Myriad Pro 1"/>
                <a:cs typeface="Arial" panose="020B0604020202020204" pitchFamily="34" charset="0"/>
                <a:sym typeface="Myriad Pro 1"/>
              </a:rPr>
              <a:t>March 2024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FA6EB55-A124-CF20-9A4B-ED47518F65E5}"/>
              </a:ext>
            </a:extLst>
          </p:cNvPr>
          <p:cNvGrpSpPr/>
          <p:nvPr/>
        </p:nvGrpSpPr>
        <p:grpSpPr>
          <a:xfrm>
            <a:off x="12596123" y="419100"/>
            <a:ext cx="5135350" cy="766996"/>
            <a:chOff x="579646" y="1040968"/>
            <a:chExt cx="5135350" cy="766996"/>
          </a:xfrm>
        </p:grpSpPr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63B24C91-F38D-F184-E8CF-5C3F2D42B0A9}"/>
                </a:ext>
              </a:extLst>
            </p:cNvPr>
            <p:cNvSpPr/>
            <p:nvPr/>
          </p:nvSpPr>
          <p:spPr>
            <a:xfrm>
              <a:off x="2512386" y="1146065"/>
              <a:ext cx="0" cy="556802"/>
            </a:xfrm>
            <a:prstGeom prst="line">
              <a:avLst/>
            </a:prstGeom>
            <a:ln w="9525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6" name="Picture 15" descr="A white logo with white text&#10;&#10;AI-generated content may be incorrect.">
              <a:extLst>
                <a:ext uri="{FF2B5EF4-FFF2-40B4-BE49-F238E27FC236}">
                  <a16:creationId xmlns:a16="http://schemas.microsoft.com/office/drawing/2014/main" id="{EC4E549E-724C-3ECF-76D2-EDB500923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7970" y="1144171"/>
              <a:ext cx="2987026" cy="560590"/>
            </a:xfrm>
            <a:prstGeom prst="rect">
              <a:avLst/>
            </a:prstGeom>
          </p:spPr>
        </p:pic>
        <p:pic>
          <p:nvPicPr>
            <p:cNvPr id="1036" name="Picture 12" descr="JLL logo white - 300px - Big Clean Switch">
              <a:extLst>
                <a:ext uri="{FF2B5EF4-FFF2-40B4-BE49-F238E27FC236}">
                  <a16:creationId xmlns:a16="http://schemas.microsoft.com/office/drawing/2014/main" id="{65127751-405E-734D-7041-4BFDE26505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646" y="1040968"/>
              <a:ext cx="1717155" cy="766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71499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ED97B-4132-D5FB-BAB6-5CE9550D4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7028150-D7AE-8BF0-224F-365E38FC489E}"/>
              </a:ext>
            </a:extLst>
          </p:cNvPr>
          <p:cNvSpPr txBox="1"/>
          <p:nvPr/>
        </p:nvSpPr>
        <p:spPr>
          <a:xfrm>
            <a:off x="7048994" y="1263336"/>
            <a:ext cx="4190012" cy="91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3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00467F"/>
                </a:solidFill>
                <a:latin typeface="Arial" panose="020B0604020202020204" pitchFamily="34" charset="0"/>
                <a:cs typeface="Arial" panose="020B0604020202020204" pitchFamily="34" charset="0"/>
                <a:sym typeface="Myriad Pro 2"/>
              </a:rPr>
              <a:t>AGENDA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4C2EA6F-C82E-3B81-A5CA-4B27C1A2DB59}"/>
              </a:ext>
            </a:extLst>
          </p:cNvPr>
          <p:cNvSpPr/>
          <p:nvPr/>
        </p:nvSpPr>
        <p:spPr>
          <a:xfrm>
            <a:off x="1028699" y="5255109"/>
            <a:ext cx="16230600" cy="0"/>
          </a:xfrm>
          <a:prstGeom prst="line">
            <a:avLst/>
          </a:prstGeom>
          <a:ln w="19050" cap="flat">
            <a:solidFill>
              <a:srgbClr val="6464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FFA8C8D-927C-008A-0100-61379937B21F}"/>
              </a:ext>
            </a:extLst>
          </p:cNvPr>
          <p:cNvSpPr/>
          <p:nvPr/>
        </p:nvSpPr>
        <p:spPr>
          <a:xfrm>
            <a:off x="1028700" y="3957221"/>
            <a:ext cx="16230600" cy="0"/>
          </a:xfrm>
          <a:prstGeom prst="line">
            <a:avLst/>
          </a:prstGeom>
          <a:ln w="19050" cap="flat">
            <a:solidFill>
              <a:srgbClr val="6464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526EF4D-A659-F706-1FC7-6FCD1EB0A365}"/>
              </a:ext>
            </a:extLst>
          </p:cNvPr>
          <p:cNvSpPr/>
          <p:nvPr/>
        </p:nvSpPr>
        <p:spPr>
          <a:xfrm>
            <a:off x="1028700" y="6552997"/>
            <a:ext cx="16230600" cy="0"/>
          </a:xfrm>
          <a:prstGeom prst="line">
            <a:avLst/>
          </a:prstGeom>
          <a:ln w="19050" cap="flat">
            <a:solidFill>
              <a:srgbClr val="6464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BA9A71F-6B00-C2A0-028A-FA832257DE2F}"/>
              </a:ext>
            </a:extLst>
          </p:cNvPr>
          <p:cNvGrpSpPr/>
          <p:nvPr/>
        </p:nvGrpSpPr>
        <p:grpSpPr>
          <a:xfrm>
            <a:off x="1028700" y="3086100"/>
            <a:ext cx="10553699" cy="444289"/>
            <a:chOff x="1028700" y="2857500"/>
            <a:chExt cx="10553699" cy="444289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176B807-F24C-5F0B-1F11-D085EE19E77C}"/>
                </a:ext>
              </a:extLst>
            </p:cNvPr>
            <p:cNvSpPr txBox="1"/>
            <p:nvPr/>
          </p:nvSpPr>
          <p:spPr>
            <a:xfrm>
              <a:off x="1028700" y="2901202"/>
              <a:ext cx="451172" cy="3276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1999" dirty="0">
                  <a:solidFill>
                    <a:srgbClr val="646464"/>
                  </a:solidFill>
                  <a:latin typeface="Myriad Pro 1"/>
                  <a:ea typeface="Myriad Pro 1"/>
                  <a:cs typeface="Myriad Pro 1"/>
                  <a:sym typeface="Myriad Pro 1"/>
                </a:rPr>
                <a:t>3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AD291B9E-DB6A-C860-774A-E1FB6613E3BE}"/>
                </a:ext>
              </a:extLst>
            </p:cNvPr>
            <p:cNvSpPr txBox="1"/>
            <p:nvPr/>
          </p:nvSpPr>
          <p:spPr>
            <a:xfrm>
              <a:off x="1899762" y="2857500"/>
              <a:ext cx="9682637" cy="4442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699" spc="809" dirty="0">
                  <a:solidFill>
                    <a:srgbClr val="646464"/>
                  </a:solidFill>
                  <a:latin typeface="Arial" panose="020B0604020202020204" pitchFamily="34" charset="0"/>
                  <a:ea typeface="Myriad Pro 1"/>
                  <a:cs typeface="Arial" panose="020B0604020202020204" pitchFamily="34" charset="0"/>
                  <a:sym typeface="Myriad Pro 1"/>
                </a:rPr>
                <a:t>OPEN FOLLOW-UPS &amp; PROGRESS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28B9537-D2F1-859E-7C2A-75D32C5793D1}"/>
              </a:ext>
            </a:extLst>
          </p:cNvPr>
          <p:cNvGrpSpPr/>
          <p:nvPr/>
        </p:nvGrpSpPr>
        <p:grpSpPr>
          <a:xfrm>
            <a:off x="1028700" y="6979829"/>
            <a:ext cx="6020294" cy="444224"/>
            <a:chOff x="1028700" y="7042401"/>
            <a:chExt cx="6020294" cy="44422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B6140BF-5A7B-3727-736A-ECF87BA397EA}"/>
                </a:ext>
              </a:extLst>
            </p:cNvPr>
            <p:cNvSpPr txBox="1"/>
            <p:nvPr/>
          </p:nvSpPr>
          <p:spPr>
            <a:xfrm>
              <a:off x="1028700" y="7114475"/>
              <a:ext cx="478588" cy="3276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799"/>
                </a:lnSpc>
                <a:spcBef>
                  <a:spcPct val="0"/>
                </a:spcBef>
              </a:pPr>
              <a:r>
                <a:rPr lang="en-US" sz="1999" dirty="0">
                  <a:solidFill>
                    <a:srgbClr val="646464"/>
                  </a:solidFill>
                  <a:latin typeface="Myriad Pro 1"/>
                  <a:ea typeface="Myriad Pro 1"/>
                  <a:cs typeface="Myriad Pro 1"/>
                  <a:sym typeface="Myriad Pro 1"/>
                </a:rPr>
                <a:t>6</a:t>
              </a: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77365DA3-A1B6-6AF5-5E26-6C4999E4632A}"/>
                </a:ext>
              </a:extLst>
            </p:cNvPr>
            <p:cNvSpPr txBox="1"/>
            <p:nvPr/>
          </p:nvSpPr>
          <p:spPr>
            <a:xfrm>
              <a:off x="1899726" y="7042401"/>
              <a:ext cx="5149268" cy="444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699" spc="809" dirty="0">
                  <a:solidFill>
                    <a:srgbClr val="646464"/>
                  </a:solidFill>
                  <a:latin typeface="Arial" panose="020B0604020202020204" pitchFamily="34" charset="0"/>
                  <a:ea typeface="Myriad Pro 1"/>
                  <a:cs typeface="Arial" panose="020B0604020202020204" pitchFamily="34" charset="0"/>
                  <a:sym typeface="Myriad Pro 1"/>
                </a:rPr>
                <a:t>WHAT'S NEXT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5D60B4C-C252-5C54-E032-FEDF60062B7C}"/>
              </a:ext>
            </a:extLst>
          </p:cNvPr>
          <p:cNvGrpSpPr/>
          <p:nvPr/>
        </p:nvGrpSpPr>
        <p:grpSpPr>
          <a:xfrm>
            <a:off x="1028700" y="5681941"/>
            <a:ext cx="8724899" cy="444289"/>
            <a:chOff x="1028700" y="5647434"/>
            <a:chExt cx="8724899" cy="444289"/>
          </a:xfrm>
        </p:grpSpPr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0F82F7E-CFAA-CD09-B222-F62819AC4647}"/>
                </a:ext>
              </a:extLst>
            </p:cNvPr>
            <p:cNvSpPr txBox="1"/>
            <p:nvPr/>
          </p:nvSpPr>
          <p:spPr>
            <a:xfrm>
              <a:off x="1028700" y="5719507"/>
              <a:ext cx="451170" cy="3276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799"/>
                </a:lnSpc>
                <a:spcBef>
                  <a:spcPct val="0"/>
                </a:spcBef>
              </a:pPr>
              <a:r>
                <a:rPr lang="en-US" sz="1999" dirty="0">
                  <a:solidFill>
                    <a:srgbClr val="646464"/>
                  </a:solidFill>
                  <a:latin typeface="Myriad Pro 1"/>
                  <a:ea typeface="Myriad Pro 1"/>
                  <a:cs typeface="Myriad Pro 1"/>
                  <a:sym typeface="Myriad Pro 1"/>
                </a:rPr>
                <a:t>5</a:t>
              </a: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50F6734-B069-863B-6BA6-E9F590990635}"/>
                </a:ext>
              </a:extLst>
            </p:cNvPr>
            <p:cNvSpPr txBox="1"/>
            <p:nvPr/>
          </p:nvSpPr>
          <p:spPr>
            <a:xfrm>
              <a:off x="1900320" y="5647434"/>
              <a:ext cx="7853279" cy="4442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779"/>
                </a:lnSpc>
                <a:spcBef>
                  <a:spcPct val="0"/>
                </a:spcBef>
              </a:pPr>
              <a:r>
                <a:rPr lang="en-US" sz="2699" spc="809" dirty="0">
                  <a:solidFill>
                    <a:srgbClr val="646464"/>
                  </a:solidFill>
                  <a:latin typeface="Arial" panose="020B0604020202020204" pitchFamily="34" charset="0"/>
                  <a:ea typeface="Myriad Pro 1"/>
                  <a:cs typeface="Arial" panose="020B0604020202020204" pitchFamily="34" charset="0"/>
                  <a:sym typeface="Myriad Pro 1"/>
                </a:rPr>
                <a:t>DASHBOARD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D0FDAC5-AD58-7C55-4B3B-5DF3F6E664EE}"/>
              </a:ext>
            </a:extLst>
          </p:cNvPr>
          <p:cNvGrpSpPr/>
          <p:nvPr/>
        </p:nvGrpSpPr>
        <p:grpSpPr>
          <a:xfrm>
            <a:off x="1028699" y="4384053"/>
            <a:ext cx="12382501" cy="444289"/>
            <a:chOff x="1028699" y="4252467"/>
            <a:chExt cx="12382501" cy="444289"/>
          </a:xfrm>
        </p:grpSpPr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048B492-7898-B41C-3398-BA8EB34A0672}"/>
                </a:ext>
              </a:extLst>
            </p:cNvPr>
            <p:cNvSpPr txBox="1"/>
            <p:nvPr/>
          </p:nvSpPr>
          <p:spPr>
            <a:xfrm>
              <a:off x="1028699" y="4324540"/>
              <a:ext cx="451171" cy="3276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799"/>
                </a:lnSpc>
                <a:spcBef>
                  <a:spcPct val="0"/>
                </a:spcBef>
              </a:pPr>
              <a:r>
                <a:rPr lang="en-US" sz="1999" dirty="0">
                  <a:solidFill>
                    <a:srgbClr val="646464"/>
                  </a:solidFill>
                  <a:latin typeface="Myriad Pro 1"/>
                  <a:ea typeface="Myriad Pro 1"/>
                  <a:cs typeface="Myriad Pro 1"/>
                  <a:sym typeface="Myriad Pro 1"/>
                </a:rPr>
                <a:t>4</a:t>
              </a:r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D9F8FD52-2E08-F14D-174E-B62B0CAC7D51}"/>
                </a:ext>
              </a:extLst>
            </p:cNvPr>
            <p:cNvSpPr txBox="1"/>
            <p:nvPr/>
          </p:nvSpPr>
          <p:spPr>
            <a:xfrm>
              <a:off x="1899726" y="4252467"/>
              <a:ext cx="11511474" cy="4442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699" spc="809" dirty="0">
                  <a:solidFill>
                    <a:srgbClr val="646464"/>
                  </a:solidFill>
                  <a:latin typeface="Arial" panose="020B0604020202020204" pitchFamily="34" charset="0"/>
                  <a:ea typeface="Myriad Pro 1"/>
                  <a:cs typeface="Arial" panose="020B0604020202020204" pitchFamily="34" charset="0"/>
                  <a:sym typeface="Myriad Pro 1"/>
                </a:rPr>
                <a:t>PRIORITY ITEMS</a:t>
              </a:r>
            </a:p>
          </p:txBody>
        </p:sp>
      </p:grpSp>
      <p:sp>
        <p:nvSpPr>
          <p:cNvPr id="25" name="AutoShape 5">
            <a:extLst>
              <a:ext uri="{FF2B5EF4-FFF2-40B4-BE49-F238E27FC236}">
                <a16:creationId xmlns:a16="http://schemas.microsoft.com/office/drawing/2014/main" id="{69A066F5-F783-69E5-D07C-1A7ADF91BAFD}"/>
              </a:ext>
            </a:extLst>
          </p:cNvPr>
          <p:cNvSpPr/>
          <p:nvPr/>
        </p:nvSpPr>
        <p:spPr>
          <a:xfrm>
            <a:off x="1028700" y="7850885"/>
            <a:ext cx="16230600" cy="0"/>
          </a:xfrm>
          <a:prstGeom prst="line">
            <a:avLst/>
          </a:prstGeom>
          <a:ln w="19050" cap="flat">
            <a:solidFill>
              <a:srgbClr val="6464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CB7F61A-5911-6AE7-6D70-9A204F0A2656}"/>
              </a:ext>
            </a:extLst>
          </p:cNvPr>
          <p:cNvGrpSpPr/>
          <p:nvPr/>
        </p:nvGrpSpPr>
        <p:grpSpPr>
          <a:xfrm>
            <a:off x="1028700" y="8277718"/>
            <a:ext cx="8115300" cy="444289"/>
            <a:chOff x="1028700" y="8049118"/>
            <a:chExt cx="8115300" cy="444289"/>
          </a:xfrm>
        </p:grpSpPr>
        <p:sp>
          <p:nvSpPr>
            <p:cNvPr id="27" name="TextBox 7">
              <a:extLst>
                <a:ext uri="{FF2B5EF4-FFF2-40B4-BE49-F238E27FC236}">
                  <a16:creationId xmlns:a16="http://schemas.microsoft.com/office/drawing/2014/main" id="{881DC088-4A7E-338D-E3AD-680443555EEF}"/>
                </a:ext>
              </a:extLst>
            </p:cNvPr>
            <p:cNvSpPr txBox="1"/>
            <p:nvPr/>
          </p:nvSpPr>
          <p:spPr>
            <a:xfrm>
              <a:off x="1028700" y="8121192"/>
              <a:ext cx="478588" cy="3276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799"/>
                </a:lnSpc>
                <a:spcBef>
                  <a:spcPct val="0"/>
                </a:spcBef>
              </a:pPr>
              <a:r>
                <a:rPr lang="en-US" sz="1999" dirty="0">
                  <a:solidFill>
                    <a:srgbClr val="646464"/>
                  </a:solidFill>
                  <a:latin typeface="Myriad Pro 1"/>
                  <a:ea typeface="Myriad Pro 1"/>
                  <a:cs typeface="Myriad Pro 1"/>
                  <a:sym typeface="Myriad Pro 1"/>
                </a:rPr>
                <a:t>7</a:t>
              </a:r>
            </a:p>
          </p:txBody>
        </p:sp>
        <p:sp>
          <p:nvSpPr>
            <p:cNvPr id="28" name="TextBox 15">
              <a:extLst>
                <a:ext uri="{FF2B5EF4-FFF2-40B4-BE49-F238E27FC236}">
                  <a16:creationId xmlns:a16="http://schemas.microsoft.com/office/drawing/2014/main" id="{4E9B518D-205F-79C3-14C7-8911C04060C7}"/>
                </a:ext>
              </a:extLst>
            </p:cNvPr>
            <p:cNvSpPr txBox="1"/>
            <p:nvPr/>
          </p:nvSpPr>
          <p:spPr>
            <a:xfrm>
              <a:off x="1899726" y="8049118"/>
              <a:ext cx="7244274" cy="4442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699" spc="809" dirty="0">
                  <a:solidFill>
                    <a:srgbClr val="646464"/>
                  </a:solidFill>
                  <a:latin typeface="Arial" panose="020B0604020202020204" pitchFamily="34" charset="0"/>
                  <a:ea typeface="Myriad Pro 1"/>
                  <a:cs typeface="Arial" panose="020B0604020202020204" pitchFamily="34" charset="0"/>
                  <a:sym typeface="Myriad Pro 1"/>
                </a:rPr>
                <a:t>QUESTIONS &amp; DISCUSSION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60AFEE8-C558-91AA-EB94-29223B2D849C}"/>
              </a:ext>
            </a:extLst>
          </p:cNvPr>
          <p:cNvGrpSpPr/>
          <p:nvPr/>
        </p:nvGrpSpPr>
        <p:grpSpPr>
          <a:xfrm>
            <a:off x="14401800" y="364682"/>
            <a:ext cx="3540175" cy="497857"/>
            <a:chOff x="13843616" y="809625"/>
            <a:chExt cx="3540175" cy="497857"/>
          </a:xfrm>
        </p:grpSpPr>
        <p:sp>
          <p:nvSpPr>
            <p:cNvPr id="23" name="AutoShape 23">
              <a:extLst>
                <a:ext uri="{FF2B5EF4-FFF2-40B4-BE49-F238E27FC236}">
                  <a16:creationId xmlns:a16="http://schemas.microsoft.com/office/drawing/2014/main" id="{C6BB5783-12EE-21FA-0948-DB60977035B3}"/>
                </a:ext>
              </a:extLst>
            </p:cNvPr>
            <p:cNvSpPr/>
            <p:nvPr/>
          </p:nvSpPr>
          <p:spPr>
            <a:xfrm>
              <a:off x="15145390" y="855982"/>
              <a:ext cx="0" cy="405142"/>
            </a:xfrm>
            <a:prstGeom prst="line">
              <a:avLst/>
            </a:prstGeom>
            <a:ln w="9525" cap="flat">
              <a:solidFill>
                <a:srgbClr val="00467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Picture 25" descr="A blue and red logo&#10;&#10;AI-generated content may be incorrect.">
              <a:extLst>
                <a:ext uri="{FF2B5EF4-FFF2-40B4-BE49-F238E27FC236}">
                  <a16:creationId xmlns:a16="http://schemas.microsoft.com/office/drawing/2014/main" id="{AB3DEC0D-A726-F0E2-74B7-5B82D5C20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31127" y="865936"/>
              <a:ext cx="2052664" cy="385234"/>
            </a:xfrm>
            <a:prstGeom prst="rect">
              <a:avLst/>
            </a:prstGeom>
          </p:spPr>
        </p:pic>
        <p:pic>
          <p:nvPicPr>
            <p:cNvPr id="8" name="Picture 10">
              <a:extLst>
                <a:ext uri="{FF2B5EF4-FFF2-40B4-BE49-F238E27FC236}">
                  <a16:creationId xmlns:a16="http://schemas.microsoft.com/office/drawing/2014/main" id="{9E7BF4E0-A6C2-38A4-B912-76105EDBBC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43616" y="809625"/>
              <a:ext cx="1116036" cy="4978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59761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42B8D-203A-F022-EE70-2041932DE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6B74012-45CD-8005-3893-03BF43AEE1A0}"/>
              </a:ext>
            </a:extLst>
          </p:cNvPr>
          <p:cNvSpPr/>
          <p:nvPr/>
        </p:nvSpPr>
        <p:spPr>
          <a:xfrm rot="5408952">
            <a:off x="8966348" y="932222"/>
            <a:ext cx="355304" cy="18444099"/>
          </a:xfrm>
          <a:custGeom>
            <a:avLst/>
            <a:gdLst/>
            <a:ahLst/>
            <a:cxnLst/>
            <a:rect l="l" t="t" r="r" b="b"/>
            <a:pathLst>
              <a:path w="355304" h="18444099">
                <a:moveTo>
                  <a:pt x="0" y="0"/>
                </a:moveTo>
                <a:lnTo>
                  <a:pt x="355304" y="0"/>
                </a:lnTo>
                <a:lnTo>
                  <a:pt x="355304" y="18444099"/>
                </a:lnTo>
                <a:lnTo>
                  <a:pt x="0" y="18444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81270" r="-52883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40D5C40-B2F5-B3E7-7BA6-00C19A7DA7BC}"/>
              </a:ext>
            </a:extLst>
          </p:cNvPr>
          <p:cNvSpPr txBox="1"/>
          <p:nvPr/>
        </p:nvSpPr>
        <p:spPr>
          <a:xfrm>
            <a:off x="809625" y="1452822"/>
            <a:ext cx="16563974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6999" b="1" dirty="0">
                <a:solidFill>
                  <a:srgbClr val="00467F"/>
                </a:solidFill>
                <a:latin typeface="Arial" panose="020B0604020202020204" pitchFamily="34" charset="0"/>
                <a:ea typeface="Myriad Pro 2"/>
                <a:cs typeface="Arial" panose="020B0604020202020204" pitchFamily="34" charset="0"/>
                <a:sym typeface="Myriad Pro 2"/>
              </a:rPr>
              <a:t>OPEN FOLLOW-UPS &amp; PROGRESS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1084082-A6B6-EA3B-5A3A-7ACC43BA1E92}"/>
              </a:ext>
            </a:extLst>
          </p:cNvPr>
          <p:cNvGrpSpPr/>
          <p:nvPr/>
        </p:nvGrpSpPr>
        <p:grpSpPr>
          <a:xfrm>
            <a:off x="14401800" y="364682"/>
            <a:ext cx="3540175" cy="497857"/>
            <a:chOff x="13843616" y="809625"/>
            <a:chExt cx="3540175" cy="497857"/>
          </a:xfrm>
        </p:grpSpPr>
        <p:sp>
          <p:nvSpPr>
            <p:cNvPr id="8" name="AutoShape 23">
              <a:extLst>
                <a:ext uri="{FF2B5EF4-FFF2-40B4-BE49-F238E27FC236}">
                  <a16:creationId xmlns:a16="http://schemas.microsoft.com/office/drawing/2014/main" id="{9B236A14-61BD-78BC-CEA1-22DDABDD287A}"/>
                </a:ext>
              </a:extLst>
            </p:cNvPr>
            <p:cNvSpPr/>
            <p:nvPr/>
          </p:nvSpPr>
          <p:spPr>
            <a:xfrm>
              <a:off x="15145390" y="855982"/>
              <a:ext cx="0" cy="405142"/>
            </a:xfrm>
            <a:prstGeom prst="line">
              <a:avLst/>
            </a:prstGeom>
            <a:ln w="9525" cap="flat">
              <a:solidFill>
                <a:srgbClr val="00467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Picture 8" descr="A blue and red logo&#10;&#10;AI-generated content may be incorrect.">
              <a:extLst>
                <a:ext uri="{FF2B5EF4-FFF2-40B4-BE49-F238E27FC236}">
                  <a16:creationId xmlns:a16="http://schemas.microsoft.com/office/drawing/2014/main" id="{3B4FB836-DA18-CBD0-BD20-DEF8CB68C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31127" y="865936"/>
              <a:ext cx="2052664" cy="385234"/>
            </a:xfrm>
            <a:prstGeom prst="rect">
              <a:avLst/>
            </a:prstGeom>
          </p:spPr>
        </p:pic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3ACF3456-7B31-E7E2-AF97-80762ECA5B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43616" y="809625"/>
              <a:ext cx="1116036" cy="4978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98D44C-2478-C681-40ED-AEB7CC89CDD7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>
            <a:off x="946266" y="9563100"/>
            <a:ext cx="16542298" cy="0"/>
          </a:xfrm>
          <a:prstGeom prst="line">
            <a:avLst/>
          </a:prstGeom>
          <a:noFill/>
          <a:ln w="9525" cap="flat" cmpd="sng" algn="ctr">
            <a:solidFill>
              <a:srgbClr val="DEE0E3"/>
            </a:solidFill>
            <a:prstDash val="soli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2A8F77-50EE-E974-2713-C8819DBFC3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946266" y="3086100"/>
            <a:ext cx="16542298" cy="0"/>
          </a:xfrm>
          <a:prstGeom prst="line">
            <a:avLst/>
          </a:prstGeom>
          <a:noFill/>
          <a:ln w="9525" cap="flat" cmpd="sng" algn="ctr">
            <a:solidFill>
              <a:srgbClr val="DEE0E3"/>
            </a:solidFill>
            <a:prstDash val="solid"/>
          </a:ln>
          <a:effectLst/>
        </p:spPr>
      </p:cxnSp>
      <p:sp>
        <p:nvSpPr>
          <p:cNvPr id="14" name="Freeform 8">
            <a:extLst>
              <a:ext uri="{FF2B5EF4-FFF2-40B4-BE49-F238E27FC236}">
                <a16:creationId xmlns:a16="http://schemas.microsoft.com/office/drawing/2014/main" id="{EE73151F-6CA8-FB2B-A90D-359A0767EC32}"/>
              </a:ext>
            </a:extLst>
          </p:cNvPr>
          <p:cNvSpPr/>
          <p:nvPr/>
        </p:nvSpPr>
        <p:spPr>
          <a:xfrm>
            <a:off x="18275085" y="-1"/>
            <a:ext cx="3365715" cy="10355933"/>
          </a:xfrm>
          <a:custGeom>
            <a:avLst/>
            <a:gdLst/>
            <a:ahLst/>
            <a:cxnLst/>
            <a:rect l="l" t="t" r="r" b="b"/>
            <a:pathLst>
              <a:path w="1386901" h="445174">
                <a:moveTo>
                  <a:pt x="74980" y="0"/>
                </a:moveTo>
                <a:lnTo>
                  <a:pt x="1311921" y="0"/>
                </a:lnTo>
                <a:cubicBezTo>
                  <a:pt x="1353331" y="0"/>
                  <a:pt x="1386901" y="33570"/>
                  <a:pt x="1386901" y="74980"/>
                </a:cubicBezTo>
                <a:lnTo>
                  <a:pt x="1386901" y="370194"/>
                </a:lnTo>
                <a:cubicBezTo>
                  <a:pt x="1386901" y="411604"/>
                  <a:pt x="1353331" y="445174"/>
                  <a:pt x="1311921" y="445174"/>
                </a:cubicBezTo>
                <a:lnTo>
                  <a:pt x="74980" y="445174"/>
                </a:lnTo>
                <a:cubicBezTo>
                  <a:pt x="33570" y="445174"/>
                  <a:pt x="0" y="411604"/>
                  <a:pt x="0" y="370194"/>
                </a:cubicBezTo>
                <a:lnTo>
                  <a:pt x="0" y="74980"/>
                </a:lnTo>
                <a:cubicBezTo>
                  <a:pt x="0" y="33570"/>
                  <a:pt x="33570" y="0"/>
                  <a:pt x="74980" y="0"/>
                </a:cubicBezTo>
                <a:close/>
              </a:path>
            </a:pathLst>
          </a:custGeom>
          <a:solidFill>
            <a:srgbClr val="FFFC00"/>
          </a:solidFill>
          <a:ln w="38100" cap="rnd">
            <a:solidFill>
              <a:srgbClr val="CE1141"/>
            </a:solidFill>
            <a:prstDash val="solid"/>
            <a:round/>
          </a:ln>
        </p:spPr>
        <p:txBody>
          <a:bodyPr anchor="ctr"/>
          <a:lstStyle/>
          <a:p>
            <a:r>
              <a:rPr lang="fr-CA" sz="2400" dirty="0"/>
              <a:t>Suivi des engagements pris lors de la dernière rencontre.</a:t>
            </a:r>
          </a:p>
          <a:p>
            <a:endParaRPr lang="fr-CA" sz="2400" dirty="0"/>
          </a:p>
          <a:p>
            <a:r>
              <a:rPr lang="fr-CA" sz="2400" dirty="0"/>
              <a:t>Cette section présente les actions convenues lors de la revue précédente, leur responsable, et l'état d'avancement actuel. </a:t>
            </a:r>
          </a:p>
          <a:p>
            <a:endParaRPr lang="fr-CA" sz="2400" dirty="0"/>
          </a:p>
          <a:p>
            <a:r>
              <a:rPr lang="fr-CA" sz="2400" dirty="0"/>
              <a:t>L'objectif est de démontrer au client la rigueur du suivi, la continuité entre les rencontres, et le respect des engagements pris.</a:t>
            </a:r>
            <a:endParaRPr lang="en-US" sz="24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150DE5F-5B7B-6266-257D-CDCEE374C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144420"/>
              </p:ext>
            </p:extLst>
          </p:nvPr>
        </p:nvGraphicFramePr>
        <p:xfrm>
          <a:off x="946265" y="3328938"/>
          <a:ext cx="16542295" cy="5991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335">
                  <a:extLst>
                    <a:ext uri="{9D8B030D-6E8A-4147-A177-3AD203B41FA5}">
                      <a16:colId xmlns:a16="http://schemas.microsoft.com/office/drawing/2014/main" val="2445190458"/>
                    </a:ext>
                  </a:extLst>
                </a:gridCol>
                <a:gridCol w="6191583">
                  <a:extLst>
                    <a:ext uri="{9D8B030D-6E8A-4147-A177-3AD203B41FA5}">
                      <a16:colId xmlns:a16="http://schemas.microsoft.com/office/drawing/2014/main" val="2350253487"/>
                    </a:ext>
                  </a:extLst>
                </a:gridCol>
                <a:gridCol w="3308459">
                  <a:extLst>
                    <a:ext uri="{9D8B030D-6E8A-4147-A177-3AD203B41FA5}">
                      <a16:colId xmlns:a16="http://schemas.microsoft.com/office/drawing/2014/main" val="2192925225"/>
                    </a:ext>
                  </a:extLst>
                </a:gridCol>
                <a:gridCol w="3308459">
                  <a:extLst>
                    <a:ext uri="{9D8B030D-6E8A-4147-A177-3AD203B41FA5}">
                      <a16:colId xmlns:a16="http://schemas.microsoft.com/office/drawing/2014/main" val="1131929993"/>
                    </a:ext>
                  </a:extLst>
                </a:gridCol>
                <a:gridCol w="3308459">
                  <a:extLst>
                    <a:ext uri="{9D8B030D-6E8A-4147-A177-3AD203B41FA5}">
                      <a16:colId xmlns:a16="http://schemas.microsoft.com/office/drawing/2014/main" val="3142149171"/>
                    </a:ext>
                  </a:extLst>
                </a:gridCol>
              </a:tblGrid>
              <a:tr h="998553">
                <a:tc>
                  <a:txBody>
                    <a:bodyPr/>
                    <a:lstStyle/>
                    <a:p>
                      <a:pPr rtl="0"/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US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Agreed action</a:t>
                      </a:r>
                      <a:endParaRPr lang="en-US" sz="2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2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Owner</a:t>
                      </a:r>
                      <a:endParaRPr lang="en-US" sz="2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Due date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746791"/>
                  </a:ext>
                </a:extLst>
              </a:tr>
              <a:tr h="998553">
                <a:tc>
                  <a:txBody>
                    <a:bodyPr/>
                    <a:lstStyle/>
                    <a:p>
                      <a:pPr rtl="0"/>
                      <a:r>
                        <a:rPr lang="en-US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 security access for the new night shift 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JLL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 20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8796875"/>
                  </a:ext>
                </a:extLst>
              </a:tr>
              <a:tr h="998553">
                <a:tc>
                  <a:txBody>
                    <a:bodyPr/>
                    <a:lstStyle/>
                    <a:p>
                      <a:pPr rtl="0"/>
                      <a:r>
                        <a:rPr lang="en-US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Resolve the conference room quality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GDI — Team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346179"/>
                  </a:ext>
                </a:extLst>
              </a:tr>
              <a:tr h="998553">
                <a:tc>
                  <a:txBody>
                    <a:bodyPr/>
                    <a:lstStyle/>
                    <a:p>
                      <a:pPr rtl="0"/>
                      <a:r>
                        <a:rPr lang="en-US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Submit a proposal for quarterly window cleaning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GDI — Account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 15</a:t>
                      </a:r>
                    </a:p>
                    <a:p>
                      <a:pPr rtl="0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84580"/>
                  </a:ext>
                </a:extLst>
              </a:tr>
              <a:tr h="998553">
                <a:tc>
                  <a:txBody>
                    <a:bodyPr/>
                    <a:lstStyle/>
                    <a:p>
                      <a:pPr rtl="0"/>
                      <a:r>
                        <a:rPr lang="en-US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5627099"/>
                  </a:ext>
                </a:extLst>
              </a:tr>
              <a:tr h="998553">
                <a:tc>
                  <a:txBody>
                    <a:bodyPr/>
                    <a:lstStyle/>
                    <a:p>
                      <a:pPr rtl="0"/>
                      <a:r>
                        <a:rPr lang="en-US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567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366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D7E4-9307-6D5E-447E-ABCBDDEE2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793630E-E3EF-3F8A-9433-8E7DB9BC4539}"/>
              </a:ext>
            </a:extLst>
          </p:cNvPr>
          <p:cNvSpPr/>
          <p:nvPr/>
        </p:nvSpPr>
        <p:spPr>
          <a:xfrm rot="5408952">
            <a:off x="8966348" y="932222"/>
            <a:ext cx="355304" cy="18444099"/>
          </a:xfrm>
          <a:custGeom>
            <a:avLst/>
            <a:gdLst/>
            <a:ahLst/>
            <a:cxnLst/>
            <a:rect l="l" t="t" r="r" b="b"/>
            <a:pathLst>
              <a:path w="355304" h="18444099">
                <a:moveTo>
                  <a:pt x="0" y="0"/>
                </a:moveTo>
                <a:lnTo>
                  <a:pt x="355304" y="0"/>
                </a:lnTo>
                <a:lnTo>
                  <a:pt x="355304" y="18444099"/>
                </a:lnTo>
                <a:lnTo>
                  <a:pt x="0" y="1844409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381270" r="-52883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AAA72AF-1E99-E1F0-02BB-6DD2EF1A1D14}"/>
              </a:ext>
            </a:extLst>
          </p:cNvPr>
          <p:cNvSpPr txBox="1"/>
          <p:nvPr/>
        </p:nvSpPr>
        <p:spPr>
          <a:xfrm>
            <a:off x="809625" y="1452822"/>
            <a:ext cx="13134975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6999" b="1" dirty="0">
                <a:solidFill>
                  <a:srgbClr val="00467F"/>
                </a:solidFill>
                <a:latin typeface="Arial" panose="020B0604020202020204" pitchFamily="34" charset="0"/>
                <a:ea typeface="Myriad Pro 2"/>
                <a:cs typeface="Arial" panose="020B0604020202020204" pitchFamily="34" charset="0"/>
                <a:sym typeface="Myriad Pro 2"/>
              </a:rPr>
              <a:t>PRIORITY ITEMS</a:t>
            </a:r>
          </a:p>
        </p:txBody>
      </p:sp>
      <p:sp>
        <p:nvSpPr>
          <p:cNvPr id="27" name="Freeform 8">
            <a:extLst>
              <a:ext uri="{FF2B5EF4-FFF2-40B4-BE49-F238E27FC236}">
                <a16:creationId xmlns:a16="http://schemas.microsoft.com/office/drawing/2014/main" id="{37383D72-AE9D-8EA4-1D34-2CB2293CDCCB}"/>
              </a:ext>
            </a:extLst>
          </p:cNvPr>
          <p:cNvSpPr/>
          <p:nvPr/>
        </p:nvSpPr>
        <p:spPr>
          <a:xfrm>
            <a:off x="18275085" y="-1"/>
            <a:ext cx="3365715" cy="10355933"/>
          </a:xfrm>
          <a:custGeom>
            <a:avLst/>
            <a:gdLst/>
            <a:ahLst/>
            <a:cxnLst/>
            <a:rect l="l" t="t" r="r" b="b"/>
            <a:pathLst>
              <a:path w="1386901" h="445174">
                <a:moveTo>
                  <a:pt x="74980" y="0"/>
                </a:moveTo>
                <a:lnTo>
                  <a:pt x="1311921" y="0"/>
                </a:lnTo>
                <a:cubicBezTo>
                  <a:pt x="1353331" y="0"/>
                  <a:pt x="1386901" y="33570"/>
                  <a:pt x="1386901" y="74980"/>
                </a:cubicBezTo>
                <a:lnTo>
                  <a:pt x="1386901" y="370194"/>
                </a:lnTo>
                <a:cubicBezTo>
                  <a:pt x="1386901" y="411604"/>
                  <a:pt x="1353331" y="445174"/>
                  <a:pt x="1311921" y="445174"/>
                </a:cubicBezTo>
                <a:lnTo>
                  <a:pt x="74980" y="445174"/>
                </a:lnTo>
                <a:cubicBezTo>
                  <a:pt x="33570" y="445174"/>
                  <a:pt x="0" y="411604"/>
                  <a:pt x="0" y="370194"/>
                </a:cubicBezTo>
                <a:lnTo>
                  <a:pt x="0" y="74980"/>
                </a:lnTo>
                <a:cubicBezTo>
                  <a:pt x="0" y="33570"/>
                  <a:pt x="33570" y="0"/>
                  <a:pt x="74980" y="0"/>
                </a:cubicBezTo>
                <a:close/>
              </a:path>
            </a:pathLst>
          </a:custGeom>
          <a:solidFill>
            <a:srgbClr val="FFFC00"/>
          </a:solidFill>
          <a:ln w="38100" cap="rnd">
            <a:solidFill>
              <a:srgbClr val="CE1141"/>
            </a:solidFill>
            <a:prstDash val="solid"/>
            <a:round/>
          </a:ln>
        </p:spPr>
        <p:txBody>
          <a:bodyPr anchor="ctr"/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sz="2400" dirty="0">
                <a:solidFill>
                  <a:srgbClr val="000000"/>
                </a:solidFill>
                <a:latin typeface="Arial Narrow"/>
                <a:sym typeface="Myriad Pro 1"/>
              </a:rPr>
              <a:t>Summary of the quarter's key highlights.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sz="2400" dirty="0">
                <a:solidFill>
                  <a:srgbClr val="000000"/>
                </a:solidFill>
                <a:latin typeface="Arial Narrow"/>
                <a:sym typeface="Myriad Pro 1"/>
              </a:rPr>
              <a:t>This section presents the 2-3 most important items affecting the relationship and operations.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sz="2400" dirty="0">
                <a:solidFill>
                  <a:srgbClr val="000000"/>
                </a:solidFill>
                <a:latin typeface="Arial Narrow"/>
                <a:sym typeface="Myriad Pro 1"/>
              </a:rPr>
              <a:t>The goal is to give the client a clear overview upfront so the rest of the discussion can focus on what matters most.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B66C55B-01B2-4200-9492-83DCA60E2139}"/>
              </a:ext>
            </a:extLst>
          </p:cNvPr>
          <p:cNvGrpSpPr/>
          <p:nvPr/>
        </p:nvGrpSpPr>
        <p:grpSpPr>
          <a:xfrm>
            <a:off x="14401800" y="364682"/>
            <a:ext cx="3540175" cy="497857"/>
            <a:chOff x="13843616" y="809625"/>
            <a:chExt cx="3540175" cy="497857"/>
          </a:xfrm>
        </p:grpSpPr>
        <p:sp>
          <p:nvSpPr>
            <p:cNvPr id="5" name="AutoShape 23">
              <a:extLst>
                <a:ext uri="{FF2B5EF4-FFF2-40B4-BE49-F238E27FC236}">
                  <a16:creationId xmlns:a16="http://schemas.microsoft.com/office/drawing/2014/main" id="{E14F11DA-D039-F10A-BF3A-E1180A33A689}"/>
                </a:ext>
              </a:extLst>
            </p:cNvPr>
            <p:cNvSpPr/>
            <p:nvPr/>
          </p:nvSpPr>
          <p:spPr>
            <a:xfrm>
              <a:off x="15145390" y="855982"/>
              <a:ext cx="0" cy="405142"/>
            </a:xfrm>
            <a:prstGeom prst="line">
              <a:avLst/>
            </a:prstGeom>
            <a:ln w="9525" cap="flat">
              <a:solidFill>
                <a:srgbClr val="00467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8" name="Picture 7" descr="A blue and red logo&#10;&#10;AI-generated content may be incorrect.">
              <a:extLst>
                <a:ext uri="{FF2B5EF4-FFF2-40B4-BE49-F238E27FC236}">
                  <a16:creationId xmlns:a16="http://schemas.microsoft.com/office/drawing/2014/main" id="{173F9ED0-6F47-C25F-1F60-2B254EBAA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31127" y="865936"/>
              <a:ext cx="2052664" cy="385234"/>
            </a:xfrm>
            <a:prstGeom prst="rect">
              <a:avLst/>
            </a:prstGeom>
          </p:spPr>
        </p:pic>
        <p:pic>
          <p:nvPicPr>
            <p:cNvPr id="9" name="Picture 10">
              <a:extLst>
                <a:ext uri="{FF2B5EF4-FFF2-40B4-BE49-F238E27FC236}">
                  <a16:creationId xmlns:a16="http://schemas.microsoft.com/office/drawing/2014/main" id="{E8B346A8-B518-DAE4-2724-DC3CEC5B48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43616" y="809625"/>
              <a:ext cx="1116036" cy="4978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BA12A64-444F-47D9-7300-334DEF5F106E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>
            <a:off x="946266" y="4986567"/>
            <a:ext cx="16542298" cy="0"/>
          </a:xfrm>
          <a:prstGeom prst="line">
            <a:avLst/>
          </a:prstGeom>
          <a:noFill/>
          <a:ln w="9525" cap="flat" cmpd="sng" algn="ctr">
            <a:solidFill>
              <a:srgbClr val="DEE0E3"/>
            </a:solidFill>
            <a:prstDash val="solid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E076B00-519D-1940-A4CF-D4D2735BD304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946266" y="7274832"/>
            <a:ext cx="16542298" cy="0"/>
          </a:xfrm>
          <a:prstGeom prst="line">
            <a:avLst/>
          </a:prstGeom>
          <a:noFill/>
          <a:ln w="9525" cap="flat" cmpd="sng" algn="ctr">
            <a:solidFill>
              <a:srgbClr val="DEE0E3"/>
            </a:solidFill>
            <a:prstDash val="solid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5CD7D6-6AFD-93C5-9B00-1FE0BACD15B3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946266" y="9563100"/>
            <a:ext cx="16542298" cy="0"/>
          </a:xfrm>
          <a:prstGeom prst="line">
            <a:avLst/>
          </a:prstGeom>
          <a:noFill/>
          <a:ln w="9525" cap="flat" cmpd="sng" algn="ctr">
            <a:solidFill>
              <a:srgbClr val="DEE0E3"/>
            </a:solidFill>
            <a:prstDash val="solid"/>
          </a:ln>
          <a:effectLst/>
        </p:spPr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F01B5C1-BD6E-3FD0-36DB-87122D6235D8}"/>
              </a:ext>
            </a:extLst>
          </p:cNvPr>
          <p:cNvGrpSpPr/>
          <p:nvPr/>
        </p:nvGrpSpPr>
        <p:grpSpPr>
          <a:xfrm>
            <a:off x="809626" y="3570488"/>
            <a:ext cx="16563974" cy="1319489"/>
            <a:chOff x="809625" y="3086100"/>
            <a:chExt cx="17017967" cy="131948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E5F97BD-C168-17CB-C949-C730983523AA}"/>
                </a:ext>
              </a:extLst>
            </p:cNvPr>
            <p:cNvSpPr>
              <a:spLocks/>
            </p:cNvSpPr>
            <p:nvPr>
              <p:custDataLst>
                <p:tags r:id="rId9"/>
              </p:custDataLst>
            </p:nvPr>
          </p:nvSpPr>
          <p:spPr>
            <a:xfrm>
              <a:off x="1815224" y="3086100"/>
              <a:ext cx="16012368" cy="1319489"/>
            </a:xfrm>
            <a:prstGeom prst="rect">
              <a:avLst/>
            </a:prstGeom>
          </p:spPr>
          <p:txBody>
            <a:bodyPr wrap="square" tIns="54000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lang="en-US" sz="3200" b="1" dirty="0">
                  <a:solidFill>
                    <a:srgbClr val="000000"/>
                  </a:solidFill>
                  <a:latin typeface="Arial Narrow"/>
                  <a:sym typeface="+mn-lt"/>
                </a:rPr>
                <a:t>Contract renewal</a:t>
              </a:r>
            </a:p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lang="en-US" sz="2800" dirty="0">
                  <a:solidFill>
                    <a:srgbClr val="156C9C"/>
                  </a:solidFill>
                  <a:latin typeface="Arial Narrow"/>
                  <a:sym typeface="Myriad Pro 1"/>
                </a:rPr>
                <a:t>The contract expires in September. We need to launch the renewal discussion before the summer to avoid last-minute delays.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3ED64FB-5466-8681-E79F-1FC0CB1847C5}"/>
                </a:ext>
              </a:extLst>
            </p:cNvPr>
            <p:cNvSpPr>
              <a:spLocks/>
            </p:cNvSpPr>
            <p:nvPr>
              <p:custDataLst>
                <p:tags r:id="rId10"/>
              </p:custDataLst>
            </p:nvPr>
          </p:nvSpPr>
          <p:spPr>
            <a:xfrm>
              <a:off x="809625" y="3086100"/>
              <a:ext cx="1025119" cy="931690"/>
            </a:xfrm>
            <a:prstGeom prst="rect">
              <a:avLst/>
            </a:prstGeom>
          </p:spPr>
          <p:txBody>
            <a:bodyPr wrap="square" tIns="54000">
              <a:spAutoFit/>
            </a:bodyPr>
            <a:lstStyle/>
            <a:p>
              <a:pPr fontAlgn="base">
                <a:lnSpc>
                  <a:spcPct val="90000"/>
                </a:lnSpc>
                <a:spcAft>
                  <a:spcPct val="0"/>
                </a:spcAft>
                <a:buSzPct val="100000"/>
              </a:pPr>
              <a:r>
                <a:rPr lang="en-US" sz="6000" dirty="0">
                  <a:solidFill>
                    <a:srgbClr val="000000"/>
                  </a:solidFill>
                  <a:latin typeface="Arial Narrow"/>
                  <a:sym typeface="+mn-lt"/>
                </a:rPr>
                <a:t>1.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F7A8D9A-F4AA-28DF-ABC2-A1C338BA9CC3}"/>
              </a:ext>
            </a:extLst>
          </p:cNvPr>
          <p:cNvGrpSpPr/>
          <p:nvPr/>
        </p:nvGrpSpPr>
        <p:grpSpPr>
          <a:xfrm>
            <a:off x="809626" y="5470955"/>
            <a:ext cx="16563974" cy="1319489"/>
            <a:chOff x="809625" y="4233681"/>
            <a:chExt cx="17017967" cy="1319489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02030AA-D297-56B0-48BF-F03DA861F9C4}"/>
                </a:ext>
              </a:extLst>
            </p:cNvPr>
            <p:cNvSpPr>
              <a:spLocks/>
            </p:cNvSpPr>
            <p:nvPr>
              <p:custDataLst>
                <p:tags r:id="rId7"/>
              </p:custDataLst>
            </p:nvPr>
          </p:nvSpPr>
          <p:spPr>
            <a:xfrm>
              <a:off x="1815224" y="4233681"/>
              <a:ext cx="16012368" cy="1319489"/>
            </a:xfrm>
            <a:prstGeom prst="rect">
              <a:avLst/>
            </a:prstGeom>
          </p:spPr>
          <p:txBody>
            <a:bodyPr wrap="square" tIns="54000" rIns="0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lang="en-US" sz="3200" b="1" dirty="0">
                  <a:solidFill>
                    <a:srgbClr val="000000"/>
                  </a:solidFill>
                  <a:latin typeface="Arial Narrow"/>
                  <a:sym typeface="+mn-lt"/>
                </a:rPr>
                <a:t>Minimum wage increase</a:t>
              </a:r>
            </a:p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lang="en-US" sz="2800" dirty="0">
                  <a:solidFill>
                    <a:srgbClr val="156C9C"/>
                  </a:solidFill>
                  <a:latin typeface="Arial Narrow"/>
                  <a:sym typeface="Myriad Pro 1"/>
                </a:rPr>
                <a:t>The minimum wage increase scheduled for May 1 will impact our cost structure. We need to discuss the financial impact and possible adjustments with the client.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240D546-60C6-50A7-B9AE-288D5D516198}"/>
                </a:ext>
              </a:extLst>
            </p:cNvPr>
            <p:cNvSpPr>
              <a:spLocks/>
            </p:cNvSpPr>
            <p:nvPr>
              <p:custDataLst>
                <p:tags r:id="rId8"/>
              </p:custDataLst>
            </p:nvPr>
          </p:nvSpPr>
          <p:spPr>
            <a:xfrm>
              <a:off x="809625" y="4233681"/>
              <a:ext cx="1025119" cy="931690"/>
            </a:xfrm>
            <a:prstGeom prst="rect">
              <a:avLst/>
            </a:prstGeom>
          </p:spPr>
          <p:txBody>
            <a:bodyPr wrap="square" tIns="54000" rIns="0">
              <a:spAutoFit/>
            </a:bodyPr>
            <a:lstStyle/>
            <a:p>
              <a:pPr fontAlgn="base">
                <a:lnSpc>
                  <a:spcPct val="90000"/>
                </a:lnSpc>
                <a:spcAft>
                  <a:spcPct val="0"/>
                </a:spcAft>
                <a:buSzPct val="100000"/>
              </a:pPr>
              <a:r>
                <a:rPr lang="en-US" sz="6000" dirty="0">
                  <a:solidFill>
                    <a:srgbClr val="000000"/>
                  </a:solidFill>
                  <a:latin typeface="Arial Narrow"/>
                  <a:sym typeface="+mn-lt"/>
                </a:rPr>
                <a:t>2.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7D7D1E2-7445-3BC2-282E-9A9D0C01D203}"/>
              </a:ext>
            </a:extLst>
          </p:cNvPr>
          <p:cNvGrpSpPr/>
          <p:nvPr/>
        </p:nvGrpSpPr>
        <p:grpSpPr>
          <a:xfrm>
            <a:off x="809626" y="7759220"/>
            <a:ext cx="16563974" cy="1319489"/>
            <a:chOff x="809625" y="5381265"/>
            <a:chExt cx="17017967" cy="131948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0764616-CF66-9EB2-435F-50915C8A41DB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>
            <a:xfrm>
              <a:off x="1815224" y="5381265"/>
              <a:ext cx="16012368" cy="1319489"/>
            </a:xfrm>
            <a:prstGeom prst="rect">
              <a:avLst/>
            </a:prstGeom>
          </p:spPr>
          <p:txBody>
            <a:bodyPr wrap="square" tIns="54000" rIns="0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lang="en-US" sz="3200" b="1" dirty="0">
                  <a:solidFill>
                    <a:srgbClr val="000000"/>
                  </a:solidFill>
                  <a:latin typeface="Arial Narrow"/>
                  <a:sym typeface="+mn-lt"/>
                </a:rPr>
                <a:t>Parking access</a:t>
              </a:r>
            </a:p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lang="en-US" sz="2800" dirty="0">
                  <a:solidFill>
                    <a:srgbClr val="156C9C"/>
                  </a:solidFill>
                  <a:latin typeface="Arial Narrow"/>
                  <a:sym typeface="Myriad Pro 1"/>
                </a:rPr>
                <a:t>The team is having difficulty accessing the loading dock during business hours. We need to agree on a solution with the property manager.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4B49B8A-FF66-34A0-C95A-FAD658288BD5}"/>
                </a:ext>
              </a:extLst>
            </p:cNvPr>
            <p:cNvSpPr>
              <a:spLocks/>
            </p:cNvSpPr>
            <p:nvPr>
              <p:custDataLst>
                <p:tags r:id="rId6"/>
              </p:custDataLst>
            </p:nvPr>
          </p:nvSpPr>
          <p:spPr>
            <a:xfrm>
              <a:off x="809625" y="5381265"/>
              <a:ext cx="1025119" cy="931690"/>
            </a:xfrm>
            <a:prstGeom prst="rect">
              <a:avLst/>
            </a:prstGeom>
          </p:spPr>
          <p:txBody>
            <a:bodyPr wrap="square" tIns="54000" rIns="0">
              <a:spAutoFit/>
            </a:bodyPr>
            <a:lstStyle/>
            <a:p>
              <a:pPr fontAlgn="base">
                <a:lnSpc>
                  <a:spcPct val="90000"/>
                </a:lnSpc>
                <a:spcAft>
                  <a:spcPct val="0"/>
                </a:spcAft>
                <a:buSzPct val="100000"/>
              </a:pPr>
              <a:r>
                <a:rPr lang="en-US" sz="6000" dirty="0">
                  <a:solidFill>
                    <a:srgbClr val="000000"/>
                  </a:solidFill>
                  <a:latin typeface="Arial Narrow"/>
                  <a:sym typeface="+mn-lt"/>
                </a:rPr>
                <a:t>3.</a:t>
              </a:r>
              <a:endParaRPr lang="en-US" sz="6000" spc="-10" dirty="0">
                <a:solidFill>
                  <a:srgbClr val="000000"/>
                </a:solidFill>
                <a:latin typeface="Arial Narrow"/>
                <a:sym typeface="+mn-lt"/>
              </a:endParaRPr>
            </a:p>
          </p:txBody>
        </p: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4E65016-E4CD-460D-B8F3-11C680B77257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946266" y="3086100"/>
            <a:ext cx="16542298" cy="0"/>
          </a:xfrm>
          <a:prstGeom prst="line">
            <a:avLst/>
          </a:prstGeom>
          <a:noFill/>
          <a:ln w="9525" cap="flat" cmpd="sng" algn="ctr">
            <a:solidFill>
              <a:srgbClr val="DEE0E3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06349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1309D-C538-0623-8951-07A1AE6B4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" name="think-cell data - do not delete" hidden="1">
            <a:extLst>
              <a:ext uri="{FF2B5EF4-FFF2-40B4-BE49-F238E27FC236}">
                <a16:creationId xmlns:a16="http://schemas.microsoft.com/office/drawing/2014/main" id="{B3793593-2674-2735-E82F-8700655052F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6" imgW="404" imgH="405" progId="TCLayout.ActiveDocument.1">
                  <p:embed/>
                </p:oleObj>
              </mc:Choice>
              <mc:Fallback>
                <p:oleObj name="think-cell Slide" r:id="rId46" imgW="404" imgH="405" progId="TCLayout.ActiveDocument.1">
                  <p:embed/>
                  <p:pic>
                    <p:nvPicPr>
                      <p:cNvPr id="10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793593-2674-2735-E82F-8700655052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2">
            <a:extLst>
              <a:ext uri="{FF2B5EF4-FFF2-40B4-BE49-F238E27FC236}">
                <a16:creationId xmlns:a16="http://schemas.microsoft.com/office/drawing/2014/main" id="{840CE015-17F5-11AF-8383-398A6F26DB79}"/>
              </a:ext>
            </a:extLst>
          </p:cNvPr>
          <p:cNvSpPr/>
          <p:nvPr/>
        </p:nvSpPr>
        <p:spPr>
          <a:xfrm rot="5408952">
            <a:off x="8966348" y="932222"/>
            <a:ext cx="355304" cy="18444099"/>
          </a:xfrm>
          <a:custGeom>
            <a:avLst/>
            <a:gdLst/>
            <a:ahLst/>
            <a:cxnLst/>
            <a:rect l="l" t="t" r="r" b="b"/>
            <a:pathLst>
              <a:path w="355304" h="18444099">
                <a:moveTo>
                  <a:pt x="0" y="0"/>
                </a:moveTo>
                <a:lnTo>
                  <a:pt x="355304" y="0"/>
                </a:lnTo>
                <a:lnTo>
                  <a:pt x="355304" y="18444099"/>
                </a:lnTo>
                <a:lnTo>
                  <a:pt x="0" y="18444099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 l="-3381270" r="-52883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7F8FC2A-B985-961F-6F90-E93EDCD706F0}"/>
              </a:ext>
            </a:extLst>
          </p:cNvPr>
          <p:cNvSpPr txBox="1"/>
          <p:nvPr/>
        </p:nvSpPr>
        <p:spPr>
          <a:xfrm>
            <a:off x="809625" y="1452822"/>
            <a:ext cx="13134975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39"/>
              </a:lnSpc>
              <a:spcBef>
                <a:spcPct val="0"/>
              </a:spcBef>
            </a:pPr>
            <a:r>
              <a:rPr lang="en-US" sz="6999" b="1" noProof="0" dirty="0">
                <a:solidFill>
                  <a:srgbClr val="00467F"/>
                </a:solidFill>
                <a:latin typeface="Arial" panose="020B0604020202020204" pitchFamily="34" charset="0"/>
                <a:cs typeface="Arial" panose="020B0604020202020204" pitchFamily="34" charset="0"/>
                <a:sym typeface="Myriad Pro 2"/>
              </a:rPr>
              <a:t>DASHBOARD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8A419A-1902-70DA-1B47-D74066E6E14B}"/>
              </a:ext>
            </a:extLst>
          </p:cNvPr>
          <p:cNvGrpSpPr/>
          <p:nvPr/>
        </p:nvGrpSpPr>
        <p:grpSpPr>
          <a:xfrm>
            <a:off x="14401800" y="364682"/>
            <a:ext cx="3540175" cy="497857"/>
            <a:chOff x="13843616" y="809625"/>
            <a:chExt cx="3540175" cy="497857"/>
          </a:xfrm>
        </p:grpSpPr>
        <p:sp>
          <p:nvSpPr>
            <p:cNvPr id="8" name="AutoShape 23">
              <a:extLst>
                <a:ext uri="{FF2B5EF4-FFF2-40B4-BE49-F238E27FC236}">
                  <a16:creationId xmlns:a16="http://schemas.microsoft.com/office/drawing/2014/main" id="{EA4ECF85-77FA-E9DD-E2D9-D17EAE2FDF59}"/>
                </a:ext>
              </a:extLst>
            </p:cNvPr>
            <p:cNvSpPr/>
            <p:nvPr/>
          </p:nvSpPr>
          <p:spPr>
            <a:xfrm>
              <a:off x="15145390" y="855982"/>
              <a:ext cx="0" cy="405142"/>
            </a:xfrm>
            <a:prstGeom prst="line">
              <a:avLst/>
            </a:prstGeom>
            <a:ln w="9525" cap="flat">
              <a:solidFill>
                <a:srgbClr val="00467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Picture 8" descr="A blue and red logo&#10;&#10;AI-generated content may be incorrect.">
              <a:extLst>
                <a:ext uri="{FF2B5EF4-FFF2-40B4-BE49-F238E27FC236}">
                  <a16:creationId xmlns:a16="http://schemas.microsoft.com/office/drawing/2014/main" id="{CA9ACF33-4E86-5A6D-EC82-CDA8430F6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31127" y="865936"/>
              <a:ext cx="2052664" cy="385234"/>
            </a:xfrm>
            <a:prstGeom prst="rect">
              <a:avLst/>
            </a:prstGeom>
          </p:spPr>
        </p:pic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BBCEB1A3-E810-4304-8A2A-897CF205FB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43616" y="809625"/>
              <a:ext cx="1116036" cy="4978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ACA0CC-8915-5A1E-7C91-40E2EBAB6234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946266" y="9563100"/>
            <a:ext cx="16542298" cy="0"/>
          </a:xfrm>
          <a:prstGeom prst="line">
            <a:avLst/>
          </a:prstGeom>
          <a:noFill/>
          <a:ln w="9525" cap="flat" cmpd="sng" algn="ctr">
            <a:solidFill>
              <a:srgbClr val="DEE0E3"/>
            </a:solidFill>
            <a:prstDash val="soli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D7467C-A05A-4576-0460-0D47A7C89D73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946266" y="3086100"/>
            <a:ext cx="16542298" cy="0"/>
          </a:xfrm>
          <a:prstGeom prst="line">
            <a:avLst/>
          </a:prstGeom>
          <a:noFill/>
          <a:ln w="9525" cap="flat" cmpd="sng" algn="ctr">
            <a:solidFill>
              <a:srgbClr val="DEE0E3"/>
            </a:solidFill>
            <a:prstDash val="solid"/>
          </a:ln>
          <a:effectLst/>
        </p:spPr>
      </p:cxnSp>
      <p:sp>
        <p:nvSpPr>
          <p:cNvPr id="14" name="Freeform 8">
            <a:extLst>
              <a:ext uri="{FF2B5EF4-FFF2-40B4-BE49-F238E27FC236}">
                <a16:creationId xmlns:a16="http://schemas.microsoft.com/office/drawing/2014/main" id="{7474FF41-FDD5-4771-9130-C3C9C81E9843}"/>
              </a:ext>
            </a:extLst>
          </p:cNvPr>
          <p:cNvSpPr/>
          <p:nvPr/>
        </p:nvSpPr>
        <p:spPr>
          <a:xfrm>
            <a:off x="18275085" y="-1"/>
            <a:ext cx="3365715" cy="10355933"/>
          </a:xfrm>
          <a:custGeom>
            <a:avLst/>
            <a:gdLst/>
            <a:ahLst/>
            <a:cxnLst/>
            <a:rect l="l" t="t" r="r" b="b"/>
            <a:pathLst>
              <a:path w="1386901" h="445174">
                <a:moveTo>
                  <a:pt x="74980" y="0"/>
                </a:moveTo>
                <a:lnTo>
                  <a:pt x="1311921" y="0"/>
                </a:lnTo>
                <a:cubicBezTo>
                  <a:pt x="1353331" y="0"/>
                  <a:pt x="1386901" y="33570"/>
                  <a:pt x="1386901" y="74980"/>
                </a:cubicBezTo>
                <a:lnTo>
                  <a:pt x="1386901" y="370194"/>
                </a:lnTo>
                <a:cubicBezTo>
                  <a:pt x="1386901" y="411604"/>
                  <a:pt x="1353331" y="445174"/>
                  <a:pt x="1311921" y="445174"/>
                </a:cubicBezTo>
                <a:lnTo>
                  <a:pt x="74980" y="445174"/>
                </a:lnTo>
                <a:cubicBezTo>
                  <a:pt x="33570" y="445174"/>
                  <a:pt x="0" y="411604"/>
                  <a:pt x="0" y="370194"/>
                </a:cubicBezTo>
                <a:lnTo>
                  <a:pt x="0" y="74980"/>
                </a:lnTo>
                <a:cubicBezTo>
                  <a:pt x="0" y="33570"/>
                  <a:pt x="33570" y="0"/>
                  <a:pt x="74980" y="0"/>
                </a:cubicBezTo>
                <a:close/>
              </a:path>
            </a:pathLst>
          </a:custGeom>
          <a:solidFill>
            <a:srgbClr val="FFFC00"/>
          </a:solidFill>
          <a:ln w="38100" cap="rnd">
            <a:solidFill>
              <a:srgbClr val="CE1141"/>
            </a:solidFill>
            <a:prstDash val="solid"/>
            <a:round/>
          </a:ln>
        </p:spPr>
        <p:txBody>
          <a:bodyPr anchor="ctr"/>
          <a:lstStyle/>
          <a:p>
            <a:r>
              <a:rPr lang="fr-CA" sz="2400" dirty="0"/>
              <a:t>Santé du compte en un coup d'œil.</a:t>
            </a:r>
          </a:p>
          <a:p>
            <a:endParaRPr lang="fr-CA" sz="2400" dirty="0"/>
          </a:p>
          <a:p>
            <a:r>
              <a:rPr lang="fr-CA" sz="2400" dirty="0"/>
              <a:t>Cette section regroupe les indicateurs clés du trimestre en trois catégories : Santé &amp; Sécurité, Opérationnel et Financier. </a:t>
            </a:r>
          </a:p>
          <a:p>
            <a:endParaRPr lang="fr-CA" sz="2400" dirty="0"/>
          </a:p>
          <a:p>
            <a:r>
              <a:rPr lang="fr-CA" sz="2400" dirty="0"/>
              <a:t>L'objectif est de permettre au client d'identifier rapidement ce qui performe bien et ce qui nécessite attention — sans entrer dans le détail.</a:t>
            </a:r>
            <a:endParaRPr lang="en-US" sz="24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C992E35-77F3-CD77-E7BF-D46467A47B0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740049" y="3774512"/>
            <a:ext cx="798271" cy="5399069"/>
          </a:xfrm>
          <a:prstGeom prst="rect">
            <a:avLst/>
          </a:prstGeom>
          <a:solidFill>
            <a:srgbClr val="8D9399">
              <a:lumMod val="20000"/>
              <a:lumOff val="80000"/>
            </a:srgbClr>
          </a:solidFill>
          <a:ln w="9525" cap="flat" cmpd="sng" algn="ctr">
            <a:noFill/>
            <a:prstDash val="solid"/>
          </a:ln>
          <a:effectLst/>
        </p:spPr>
        <p:txBody>
          <a:bodyPr lIns="66462" tIns="66462" rIns="66462" bIns="66462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36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" name="HorizontalLine12">
            <a:extLst>
              <a:ext uri="{FF2B5EF4-FFF2-40B4-BE49-F238E27FC236}">
                <a16:creationId xmlns:a16="http://schemas.microsoft.com/office/drawing/2014/main" id="{90D49BCD-5A9F-3DD5-7DE2-7679BD3453E7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740049" y="5065381"/>
            <a:ext cx="5023069" cy="0"/>
          </a:xfrm>
          <a:prstGeom prst="line">
            <a:avLst/>
          </a:prstGeom>
          <a:noFill/>
          <a:ln w="6350" cap="flat" cmpd="sng" algn="ctr">
            <a:solidFill>
              <a:srgbClr val="DEE0E3">
                <a:lumMod val="90000"/>
              </a:srgbClr>
            </a:solidFill>
            <a:prstDash val="solid"/>
          </a:ln>
          <a:effectLst/>
        </p:spPr>
      </p:cxnSp>
      <p:cxnSp>
        <p:nvCxnSpPr>
          <p:cNvPr id="69" name="HorizontalLine12">
            <a:extLst>
              <a:ext uri="{FF2B5EF4-FFF2-40B4-BE49-F238E27FC236}">
                <a16:creationId xmlns:a16="http://schemas.microsoft.com/office/drawing/2014/main" id="{38622C09-AC15-3368-E1E2-E373B9FD73B9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740049" y="6485829"/>
            <a:ext cx="5023069" cy="0"/>
          </a:xfrm>
          <a:prstGeom prst="line">
            <a:avLst/>
          </a:prstGeom>
          <a:noFill/>
          <a:ln w="6350" cap="flat" cmpd="sng" algn="ctr">
            <a:solidFill>
              <a:srgbClr val="DEE0E3">
                <a:lumMod val="90000"/>
              </a:srgbClr>
            </a:solidFill>
            <a:prstDash val="solid"/>
          </a:ln>
          <a:effectLst/>
        </p:spPr>
      </p:cxnSp>
      <p:cxnSp>
        <p:nvCxnSpPr>
          <p:cNvPr id="70" name="HorizontalLine12">
            <a:extLst>
              <a:ext uri="{FF2B5EF4-FFF2-40B4-BE49-F238E27FC236}">
                <a16:creationId xmlns:a16="http://schemas.microsoft.com/office/drawing/2014/main" id="{E7575CEE-68B0-DCAA-E5D9-C22979887F29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6740049" y="7880363"/>
            <a:ext cx="5023069" cy="0"/>
          </a:xfrm>
          <a:prstGeom prst="line">
            <a:avLst/>
          </a:prstGeom>
          <a:noFill/>
          <a:ln w="6350" cap="flat" cmpd="sng" algn="ctr">
            <a:solidFill>
              <a:srgbClr val="DEE0E3">
                <a:lumMod val="90000"/>
              </a:srgbClr>
            </a:solidFill>
            <a:prstDash val="solid"/>
          </a:ln>
          <a:effectLst/>
        </p:spPr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B24D372A-C3E7-215D-99EC-A34646DEAA4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2465493" y="3774512"/>
            <a:ext cx="798271" cy="5399069"/>
          </a:xfrm>
          <a:prstGeom prst="rect">
            <a:avLst/>
          </a:prstGeom>
          <a:solidFill>
            <a:srgbClr val="8D9399">
              <a:lumMod val="20000"/>
              <a:lumOff val="80000"/>
            </a:srgbClr>
          </a:solidFill>
          <a:ln w="9525" cap="flat" cmpd="sng" algn="ctr">
            <a:noFill/>
            <a:prstDash val="solid"/>
          </a:ln>
          <a:effectLst/>
        </p:spPr>
        <p:txBody>
          <a:bodyPr lIns="66462" tIns="66462" rIns="66462" bIns="66462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36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6" name="HorizontalLine15">
            <a:extLst>
              <a:ext uri="{FF2B5EF4-FFF2-40B4-BE49-F238E27FC236}">
                <a16:creationId xmlns:a16="http://schemas.microsoft.com/office/drawing/2014/main" id="{F1AF6C35-30A8-5336-1DB8-0D9D786F2CC1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>
            <a:off x="12465495" y="5065381"/>
            <a:ext cx="5023069" cy="0"/>
          </a:xfrm>
          <a:prstGeom prst="line">
            <a:avLst/>
          </a:prstGeom>
          <a:noFill/>
          <a:ln w="6350" cap="flat" cmpd="sng" algn="ctr">
            <a:solidFill>
              <a:srgbClr val="DEE0E3">
                <a:lumMod val="90000"/>
              </a:srgbClr>
            </a:solidFill>
            <a:prstDash val="solid"/>
          </a:ln>
          <a:effectLst/>
        </p:spPr>
      </p:cxnSp>
      <p:cxnSp>
        <p:nvCxnSpPr>
          <p:cNvPr id="77" name="HorizontalLine15">
            <a:extLst>
              <a:ext uri="{FF2B5EF4-FFF2-40B4-BE49-F238E27FC236}">
                <a16:creationId xmlns:a16="http://schemas.microsoft.com/office/drawing/2014/main" id="{ABEC584F-1347-0BD1-B091-0F32A4B5ECD4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12465495" y="6485829"/>
            <a:ext cx="5023069" cy="0"/>
          </a:xfrm>
          <a:prstGeom prst="line">
            <a:avLst/>
          </a:prstGeom>
          <a:noFill/>
          <a:ln w="6350" cap="flat" cmpd="sng" algn="ctr">
            <a:solidFill>
              <a:srgbClr val="DEE0E3">
                <a:lumMod val="90000"/>
              </a:srgbClr>
            </a:solidFill>
            <a:prstDash val="solid"/>
          </a:ln>
          <a:effectLst/>
        </p:spPr>
      </p:cxnSp>
      <p:cxnSp>
        <p:nvCxnSpPr>
          <p:cNvPr id="78" name="HorizontalLine15">
            <a:extLst>
              <a:ext uri="{FF2B5EF4-FFF2-40B4-BE49-F238E27FC236}">
                <a16:creationId xmlns:a16="http://schemas.microsoft.com/office/drawing/2014/main" id="{6F140C67-50EE-B9D6-DEDB-6F8020B822B1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>
          <a:xfrm>
            <a:off x="12465495" y="7880363"/>
            <a:ext cx="5023069" cy="0"/>
          </a:xfrm>
          <a:prstGeom prst="line">
            <a:avLst/>
          </a:prstGeom>
          <a:noFill/>
          <a:ln w="6350" cap="flat" cmpd="sng" algn="ctr">
            <a:solidFill>
              <a:srgbClr val="DEE0E3">
                <a:lumMod val="90000"/>
              </a:srgbClr>
            </a:solidFill>
            <a:prstDash val="solid"/>
          </a:ln>
          <a:effectLst/>
        </p:spPr>
      </p:cxnSp>
      <p:sp>
        <p:nvSpPr>
          <p:cNvPr id="85" name="Title44">
            <a:extLst>
              <a:ext uri="{FF2B5EF4-FFF2-40B4-BE49-F238E27FC236}">
                <a16:creationId xmlns:a16="http://schemas.microsoft.com/office/drawing/2014/main" id="{3531A9F0-D622-70B3-8940-A75BE5ECBD1F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761983" y="3291279"/>
            <a:ext cx="10726581" cy="45393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65492" rtlCol="0" anchor="b">
            <a:spAutoFit/>
          </a:bodyPr>
          <a:lstStyle/>
          <a:p>
            <a:pPr fontAlgn="base">
              <a:lnSpc>
                <a:spcPct val="90000"/>
              </a:lnSpc>
              <a:spcBef>
                <a:spcPts val="369"/>
              </a:spcBef>
              <a:spcAft>
                <a:spcPct val="0"/>
              </a:spcAft>
              <a:buSzPct val="100000"/>
            </a:pPr>
            <a:r>
              <a:rPr lang="en-US" sz="2800" b="1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Operational</a:t>
            </a:r>
          </a:p>
        </p:txBody>
      </p:sp>
      <p:cxnSp>
        <p:nvCxnSpPr>
          <p:cNvPr id="86" name="HorizontalLine5">
            <a:extLst>
              <a:ext uri="{FF2B5EF4-FFF2-40B4-BE49-F238E27FC236}">
                <a16:creationId xmlns:a16="http://schemas.microsoft.com/office/drawing/2014/main" id="{8C168A4B-8CAE-260A-675D-073E715A9CBE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>
          <a:xfrm>
            <a:off x="6740049" y="3774511"/>
            <a:ext cx="10726581" cy="0"/>
          </a:xfrm>
          <a:prstGeom prst="line">
            <a:avLst/>
          </a:prstGeom>
          <a:noFill/>
          <a:ln w="22225" cap="rnd" cmpd="sng" algn="ctr">
            <a:solidFill>
              <a:srgbClr val="156C9C"/>
            </a:solidFill>
            <a:prstDash val="solid"/>
            <a:headEnd type="none"/>
            <a:tailEnd type="none" w="med" len="med"/>
          </a:ln>
          <a:effectLst/>
        </p:spPr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5B5F591B-8046-98B7-3291-A4AFED3D5A6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998664" y="3774513"/>
            <a:ext cx="798271" cy="1290868"/>
          </a:xfrm>
          <a:prstGeom prst="rect">
            <a:avLst/>
          </a:prstGeom>
          <a:solidFill>
            <a:srgbClr val="8D9399">
              <a:lumMod val="20000"/>
              <a:lumOff val="80000"/>
            </a:srgbClr>
          </a:solidFill>
          <a:ln w="9525" cap="flat" cmpd="sng" algn="ctr">
            <a:noFill/>
            <a:prstDash val="solid"/>
          </a:ln>
          <a:effectLst/>
        </p:spPr>
        <p:txBody>
          <a:bodyPr lIns="66462" tIns="66462" rIns="66462" bIns="66462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36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itle22">
            <a:extLst>
              <a:ext uri="{FF2B5EF4-FFF2-40B4-BE49-F238E27FC236}">
                <a16:creationId xmlns:a16="http://schemas.microsoft.com/office/drawing/2014/main" id="{63F9B9E6-C130-2D7E-DCD5-0471C4FA63F1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98664" y="3291279"/>
            <a:ext cx="3744335" cy="45393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65492" rtlCol="0" anchor="b">
            <a:spAutoFit/>
          </a:bodyPr>
          <a:lstStyle/>
          <a:p>
            <a:pPr fontAlgn="base">
              <a:lnSpc>
                <a:spcPct val="90000"/>
              </a:lnSpc>
              <a:spcBef>
                <a:spcPts val="369"/>
              </a:spcBef>
              <a:spcAft>
                <a:spcPct val="0"/>
              </a:spcAft>
              <a:buSzPct val="100000"/>
            </a:pPr>
            <a:r>
              <a:rPr lang="en-US" sz="2800" b="1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Health &amp; Safety</a:t>
            </a:r>
          </a:p>
        </p:txBody>
      </p:sp>
      <p:cxnSp>
        <p:nvCxnSpPr>
          <p:cNvPr id="84" name="HorizontalLine3">
            <a:extLst>
              <a:ext uri="{FF2B5EF4-FFF2-40B4-BE49-F238E27FC236}">
                <a16:creationId xmlns:a16="http://schemas.microsoft.com/office/drawing/2014/main" id="{9B717347-A16B-0F38-EBA5-834E9384ED87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>
          <a:xfrm>
            <a:off x="998664" y="3774511"/>
            <a:ext cx="3744335" cy="0"/>
          </a:xfrm>
          <a:prstGeom prst="line">
            <a:avLst/>
          </a:prstGeom>
          <a:noFill/>
          <a:ln w="22225" cap="rnd" cmpd="sng" algn="ctr">
            <a:solidFill>
              <a:srgbClr val="156C9C"/>
            </a:solidFill>
            <a:prstDash val="solid"/>
            <a:headEnd type="none"/>
            <a:tailEnd type="none" w="med" len="med"/>
          </a:ln>
          <a:effectLst/>
        </p:spPr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0BDEA1-1D23-965A-6831-A11EA7ACBC4C}"/>
              </a:ext>
            </a:extLst>
          </p:cNvPr>
          <p:cNvGrpSpPr/>
          <p:nvPr/>
        </p:nvGrpSpPr>
        <p:grpSpPr>
          <a:xfrm>
            <a:off x="998664" y="4170648"/>
            <a:ext cx="3801936" cy="498598"/>
            <a:chOff x="998664" y="4202935"/>
            <a:chExt cx="3801936" cy="498598"/>
          </a:xfrm>
        </p:grpSpPr>
        <p:sp>
          <p:nvSpPr>
            <p:cNvPr id="63" name="RBContent55">
              <a:extLst>
                <a:ext uri="{FF2B5EF4-FFF2-40B4-BE49-F238E27FC236}">
                  <a16:creationId xmlns:a16="http://schemas.microsoft.com/office/drawing/2014/main" id="{6F2B44BC-B0A9-1B1B-7ECB-7F6C87474C05}"/>
                </a:ext>
              </a:extLst>
            </p:cNvPr>
            <p:cNvSpPr txBox="1">
              <a:spLocks/>
            </p:cNvSpPr>
            <p:nvPr>
              <p:custDataLst>
                <p:tags r:id="rId43"/>
              </p:custDataLst>
            </p:nvPr>
          </p:nvSpPr>
          <p:spPr>
            <a:xfrm>
              <a:off x="2092473" y="4202935"/>
              <a:ext cx="2708127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en-US" noProof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Incidents reported last quarter</a:t>
              </a:r>
            </a:p>
          </p:txBody>
        </p:sp>
        <p:sp>
          <p:nvSpPr>
            <p:cNvPr id="108" name="RBContent55">
              <a:extLst>
                <a:ext uri="{FF2B5EF4-FFF2-40B4-BE49-F238E27FC236}">
                  <a16:creationId xmlns:a16="http://schemas.microsoft.com/office/drawing/2014/main" id="{5656FBE7-0B15-4852-3429-BCB068CB1D8D}"/>
                </a:ext>
              </a:extLst>
            </p:cNvPr>
            <p:cNvSpPr txBox="1">
              <a:spLocks/>
            </p:cNvSpPr>
            <p:nvPr>
              <p:custDataLst>
                <p:tags r:id="rId44"/>
              </p:custDataLst>
            </p:nvPr>
          </p:nvSpPr>
          <p:spPr>
            <a:xfrm>
              <a:off x="998664" y="4272185"/>
              <a:ext cx="798271" cy="3600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fr-FR" sz="2600" b="1" noProof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0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F72E23F-F28A-E31F-0273-5396A5040A9D}"/>
              </a:ext>
            </a:extLst>
          </p:cNvPr>
          <p:cNvGrpSpPr/>
          <p:nvPr/>
        </p:nvGrpSpPr>
        <p:grpSpPr>
          <a:xfrm>
            <a:off x="6740049" y="5526306"/>
            <a:ext cx="5100342" cy="429349"/>
            <a:chOff x="998664" y="5526306"/>
            <a:chExt cx="5100342" cy="429349"/>
          </a:xfrm>
        </p:grpSpPr>
        <p:sp>
          <p:nvSpPr>
            <p:cNvPr id="112" name="RBContent55">
              <a:extLst>
                <a:ext uri="{FF2B5EF4-FFF2-40B4-BE49-F238E27FC236}">
                  <a16:creationId xmlns:a16="http://schemas.microsoft.com/office/drawing/2014/main" id="{48BA2F00-FBBE-F9C1-0C28-165713E8B847}"/>
                </a:ext>
              </a:extLst>
            </p:cNvPr>
            <p:cNvSpPr txBox="1">
              <a:spLocks/>
            </p:cNvSpPr>
            <p:nvPr>
              <p:custDataLst>
                <p:tags r:id="rId41"/>
              </p:custDataLst>
            </p:nvPr>
          </p:nvSpPr>
          <p:spPr>
            <a:xfrm>
              <a:off x="2092473" y="5526306"/>
              <a:ext cx="4006533" cy="2492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en-US" noProof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Periodic maintenance overdue</a:t>
              </a:r>
            </a:p>
          </p:txBody>
        </p:sp>
        <p:sp>
          <p:nvSpPr>
            <p:cNvPr id="113" name="RBContent55">
              <a:extLst>
                <a:ext uri="{FF2B5EF4-FFF2-40B4-BE49-F238E27FC236}">
                  <a16:creationId xmlns:a16="http://schemas.microsoft.com/office/drawing/2014/main" id="{7C703A98-868C-AA28-A447-564EEFC9102A}"/>
                </a:ext>
              </a:extLst>
            </p:cNvPr>
            <p:cNvSpPr txBox="1">
              <a:spLocks/>
            </p:cNvSpPr>
            <p:nvPr>
              <p:custDataLst>
                <p:tags r:id="rId42"/>
              </p:custDataLst>
            </p:nvPr>
          </p:nvSpPr>
          <p:spPr>
            <a:xfrm>
              <a:off x="998664" y="5595556"/>
              <a:ext cx="798271" cy="3600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fr-FR" sz="26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2</a:t>
              </a:r>
              <a:endParaRPr lang="fr-FR" sz="2600" b="1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A80CE1F-4778-D1DC-39A0-BA352A3C4D48}"/>
              </a:ext>
            </a:extLst>
          </p:cNvPr>
          <p:cNvGrpSpPr/>
          <p:nvPr/>
        </p:nvGrpSpPr>
        <p:grpSpPr>
          <a:xfrm>
            <a:off x="6740049" y="4178306"/>
            <a:ext cx="5100342" cy="360099"/>
            <a:chOff x="998664" y="4178306"/>
            <a:chExt cx="5100342" cy="360099"/>
          </a:xfrm>
        </p:grpSpPr>
        <p:sp>
          <p:nvSpPr>
            <p:cNvPr id="115" name="RBContent55">
              <a:extLst>
                <a:ext uri="{FF2B5EF4-FFF2-40B4-BE49-F238E27FC236}">
                  <a16:creationId xmlns:a16="http://schemas.microsoft.com/office/drawing/2014/main" id="{FF078A56-14D4-E8AF-27C2-0DFEEE18CCF3}"/>
                </a:ext>
              </a:extLst>
            </p:cNvPr>
            <p:cNvSpPr txBox="1">
              <a:spLocks/>
            </p:cNvSpPr>
            <p:nvPr>
              <p:custDataLst>
                <p:tags r:id="rId39"/>
              </p:custDataLst>
            </p:nvPr>
          </p:nvSpPr>
          <p:spPr>
            <a:xfrm>
              <a:off x="2092473" y="4202935"/>
              <a:ext cx="4006533" cy="2492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en-US" noProof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Periodic maintenance completed</a:t>
              </a:r>
            </a:p>
          </p:txBody>
        </p:sp>
        <p:sp>
          <p:nvSpPr>
            <p:cNvPr id="116" name="RBContent55">
              <a:extLst>
                <a:ext uri="{FF2B5EF4-FFF2-40B4-BE49-F238E27FC236}">
                  <a16:creationId xmlns:a16="http://schemas.microsoft.com/office/drawing/2014/main" id="{C3D38196-1DBB-8648-0430-840F0D19C110}"/>
                </a:ext>
              </a:extLst>
            </p:cNvPr>
            <p:cNvSpPr txBox="1">
              <a:spLocks/>
            </p:cNvSpPr>
            <p:nvPr>
              <p:custDataLst>
                <p:tags r:id="rId40"/>
              </p:custDataLst>
            </p:nvPr>
          </p:nvSpPr>
          <p:spPr>
            <a:xfrm>
              <a:off x="998664" y="4178306"/>
              <a:ext cx="798271" cy="3600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fr-FR" sz="26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32%</a:t>
              </a:r>
              <a:endParaRPr lang="fr-FR" sz="2600" b="1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D85DCD4-59E6-9D77-C855-665ACB576802}"/>
              </a:ext>
            </a:extLst>
          </p:cNvPr>
          <p:cNvGrpSpPr/>
          <p:nvPr/>
        </p:nvGrpSpPr>
        <p:grpSpPr>
          <a:xfrm>
            <a:off x="6740049" y="6968422"/>
            <a:ext cx="5100342" cy="429349"/>
            <a:chOff x="998664" y="5526306"/>
            <a:chExt cx="5100342" cy="429349"/>
          </a:xfrm>
        </p:grpSpPr>
        <p:sp>
          <p:nvSpPr>
            <p:cNvPr id="124" name="RBContent55">
              <a:extLst>
                <a:ext uri="{FF2B5EF4-FFF2-40B4-BE49-F238E27FC236}">
                  <a16:creationId xmlns:a16="http://schemas.microsoft.com/office/drawing/2014/main" id="{4C0F3DA4-F4A5-3D3F-97C0-B1D0CD0DA685}"/>
                </a:ext>
              </a:extLst>
            </p:cNvPr>
            <p:cNvSpPr txBox="1">
              <a:spLocks/>
            </p:cNvSpPr>
            <p:nvPr>
              <p:custDataLst>
                <p:tags r:id="rId37"/>
              </p:custDataLst>
            </p:nvPr>
          </p:nvSpPr>
          <p:spPr>
            <a:xfrm>
              <a:off x="2092473" y="5526306"/>
              <a:ext cx="4006533" cy="2492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en-US" noProof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Average inspection score</a:t>
              </a:r>
            </a:p>
          </p:txBody>
        </p:sp>
        <p:sp>
          <p:nvSpPr>
            <p:cNvPr id="125" name="RBContent55">
              <a:extLst>
                <a:ext uri="{FF2B5EF4-FFF2-40B4-BE49-F238E27FC236}">
                  <a16:creationId xmlns:a16="http://schemas.microsoft.com/office/drawing/2014/main" id="{B7E53D8E-E867-03C0-10F3-33AC10B51641}"/>
                </a:ext>
              </a:extLst>
            </p:cNvPr>
            <p:cNvSpPr txBox="1">
              <a:spLocks/>
            </p:cNvSpPr>
            <p:nvPr>
              <p:custDataLst>
                <p:tags r:id="rId38"/>
              </p:custDataLst>
            </p:nvPr>
          </p:nvSpPr>
          <p:spPr>
            <a:xfrm>
              <a:off x="998664" y="5595556"/>
              <a:ext cx="798271" cy="3600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fr-FR" sz="2600" b="1" noProof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87%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11F92DA-193F-45F2-FCDA-5116CB885C0C}"/>
              </a:ext>
            </a:extLst>
          </p:cNvPr>
          <p:cNvGrpSpPr/>
          <p:nvPr/>
        </p:nvGrpSpPr>
        <p:grpSpPr>
          <a:xfrm>
            <a:off x="6740049" y="8409349"/>
            <a:ext cx="5100342" cy="429349"/>
            <a:chOff x="998664" y="5526306"/>
            <a:chExt cx="5100342" cy="429349"/>
          </a:xfrm>
        </p:grpSpPr>
        <p:sp>
          <p:nvSpPr>
            <p:cNvPr id="127" name="RBContent55">
              <a:extLst>
                <a:ext uri="{FF2B5EF4-FFF2-40B4-BE49-F238E27FC236}">
                  <a16:creationId xmlns:a16="http://schemas.microsoft.com/office/drawing/2014/main" id="{80ABCE97-A8B6-BBE1-6369-C8B69333752F}"/>
                </a:ext>
              </a:extLst>
            </p:cNvPr>
            <p:cNvSpPr txBox="1">
              <a:spLocks/>
            </p:cNvSpPr>
            <p:nvPr>
              <p:custDataLst>
                <p:tags r:id="rId35"/>
              </p:custDataLst>
            </p:nvPr>
          </p:nvSpPr>
          <p:spPr>
            <a:xfrm>
              <a:off x="2092473" y="5526306"/>
              <a:ext cx="4006533" cy="2492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en-US" noProof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Inspections in the last quarter</a:t>
              </a:r>
            </a:p>
          </p:txBody>
        </p:sp>
        <p:sp>
          <p:nvSpPr>
            <p:cNvPr id="128" name="RBContent55">
              <a:extLst>
                <a:ext uri="{FF2B5EF4-FFF2-40B4-BE49-F238E27FC236}">
                  <a16:creationId xmlns:a16="http://schemas.microsoft.com/office/drawing/2014/main" id="{E2FFBCC5-9F31-AADA-E318-2C41223A8D6E}"/>
                </a:ext>
              </a:extLst>
            </p:cNvPr>
            <p:cNvSpPr txBox="1">
              <a:spLocks/>
            </p:cNvSpPr>
            <p:nvPr>
              <p:custDataLst>
                <p:tags r:id="rId36"/>
              </p:custDataLst>
            </p:nvPr>
          </p:nvSpPr>
          <p:spPr>
            <a:xfrm>
              <a:off x="998664" y="5595556"/>
              <a:ext cx="798271" cy="3600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fr-FR" sz="2600" b="1" noProof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43</a:t>
              </a:r>
            </a:p>
          </p:txBody>
        </p:sp>
      </p:grpSp>
      <p:sp>
        <p:nvSpPr>
          <p:cNvPr id="87" name="Title66">
            <a:extLst>
              <a:ext uri="{FF2B5EF4-FFF2-40B4-BE49-F238E27FC236}">
                <a16:creationId xmlns:a16="http://schemas.microsoft.com/office/drawing/2014/main" id="{A76B703C-623A-26A4-C702-B8584529D679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998665" y="5409339"/>
            <a:ext cx="3744334" cy="45393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65492" rtlCol="0" anchor="b">
            <a:spAutoFit/>
          </a:bodyPr>
          <a:lstStyle/>
          <a:p>
            <a:pPr fontAlgn="base">
              <a:lnSpc>
                <a:spcPct val="90000"/>
              </a:lnSpc>
              <a:spcBef>
                <a:spcPts val="369"/>
              </a:spcBef>
              <a:spcAft>
                <a:spcPct val="0"/>
              </a:spcAft>
              <a:buSzPct val="100000"/>
            </a:pPr>
            <a:r>
              <a:rPr lang="en-US" sz="2800" b="1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Financial</a:t>
            </a:r>
          </a:p>
        </p:txBody>
      </p:sp>
      <p:cxnSp>
        <p:nvCxnSpPr>
          <p:cNvPr id="88" name="HorizontalLine7">
            <a:extLst>
              <a:ext uri="{FF2B5EF4-FFF2-40B4-BE49-F238E27FC236}">
                <a16:creationId xmlns:a16="http://schemas.microsoft.com/office/drawing/2014/main" id="{B57446D3-A1B1-9757-0559-45A418DA01CF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>
            <a:off x="998665" y="5892571"/>
            <a:ext cx="3744334" cy="0"/>
          </a:xfrm>
          <a:prstGeom prst="line">
            <a:avLst/>
          </a:prstGeom>
          <a:noFill/>
          <a:ln w="22225" cap="rnd" cmpd="sng" algn="ctr">
            <a:solidFill>
              <a:srgbClr val="156C9C"/>
            </a:solidFill>
            <a:prstDash val="solid"/>
            <a:headEnd type="none"/>
            <a:tailEnd type="none" w="med" len="med"/>
          </a:ln>
          <a:effectLst/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AF1443B-D36D-6683-1953-EEC89418E0DE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998665" y="5910538"/>
            <a:ext cx="798270" cy="3263043"/>
          </a:xfrm>
          <a:prstGeom prst="rect">
            <a:avLst/>
          </a:prstGeom>
          <a:solidFill>
            <a:srgbClr val="8D9399">
              <a:lumMod val="20000"/>
              <a:lumOff val="80000"/>
            </a:srgbClr>
          </a:solidFill>
          <a:ln w="9525" cap="flat" cmpd="sng" algn="ctr">
            <a:noFill/>
            <a:prstDash val="solid"/>
          </a:ln>
          <a:effectLst/>
        </p:spPr>
        <p:txBody>
          <a:bodyPr lIns="66462" tIns="66462" rIns="66462" bIns="66462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36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4EBB0E-CC7E-D25E-9579-9D2A936D89D6}"/>
              </a:ext>
            </a:extLst>
          </p:cNvPr>
          <p:cNvGrpSpPr/>
          <p:nvPr/>
        </p:nvGrpSpPr>
        <p:grpSpPr>
          <a:xfrm>
            <a:off x="998664" y="8228679"/>
            <a:ext cx="3744334" cy="498598"/>
            <a:chOff x="998664" y="7909480"/>
            <a:chExt cx="3744334" cy="498598"/>
          </a:xfrm>
        </p:grpSpPr>
        <p:sp>
          <p:nvSpPr>
            <p:cNvPr id="118" name="RBContent55">
              <a:extLst>
                <a:ext uri="{FF2B5EF4-FFF2-40B4-BE49-F238E27FC236}">
                  <a16:creationId xmlns:a16="http://schemas.microsoft.com/office/drawing/2014/main" id="{972CE045-4AC8-EDEE-BDEC-1D6102815EF4}"/>
                </a:ext>
              </a:extLst>
            </p:cNvPr>
            <p:cNvSpPr txBox="1">
              <a:spLocks/>
            </p:cNvSpPr>
            <p:nvPr>
              <p:custDataLst>
                <p:tags r:id="rId33"/>
              </p:custDataLst>
            </p:nvPr>
          </p:nvSpPr>
          <p:spPr>
            <a:xfrm>
              <a:off x="2092472" y="7909480"/>
              <a:ext cx="2650526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en-US" noProof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Outstanding invoices last quarter</a:t>
              </a:r>
            </a:p>
          </p:txBody>
        </p:sp>
        <p:sp>
          <p:nvSpPr>
            <p:cNvPr id="119" name="RBContent55">
              <a:extLst>
                <a:ext uri="{FF2B5EF4-FFF2-40B4-BE49-F238E27FC236}">
                  <a16:creationId xmlns:a16="http://schemas.microsoft.com/office/drawing/2014/main" id="{2BF8CB0D-73E8-8689-C1DD-804B17A5111E}"/>
                </a:ext>
              </a:extLst>
            </p:cNvPr>
            <p:cNvSpPr txBox="1">
              <a:spLocks/>
            </p:cNvSpPr>
            <p:nvPr>
              <p:custDataLst>
                <p:tags r:id="rId34"/>
              </p:custDataLst>
            </p:nvPr>
          </p:nvSpPr>
          <p:spPr>
            <a:xfrm>
              <a:off x="998664" y="7978730"/>
              <a:ext cx="798270" cy="3600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fr-FR" sz="26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0</a:t>
              </a:r>
              <a:endParaRPr lang="fr-FR" sz="2600" b="1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BF152F-72B0-6C7A-F164-99FA869BEAAC}"/>
              </a:ext>
            </a:extLst>
          </p:cNvPr>
          <p:cNvGrpSpPr/>
          <p:nvPr/>
        </p:nvGrpSpPr>
        <p:grpSpPr>
          <a:xfrm>
            <a:off x="998664" y="6338875"/>
            <a:ext cx="3744334" cy="553998"/>
            <a:chOff x="998664" y="6507330"/>
            <a:chExt cx="3744334" cy="553998"/>
          </a:xfrm>
        </p:grpSpPr>
        <p:sp>
          <p:nvSpPr>
            <p:cNvPr id="121" name="RBContent55">
              <a:extLst>
                <a:ext uri="{FF2B5EF4-FFF2-40B4-BE49-F238E27FC236}">
                  <a16:creationId xmlns:a16="http://schemas.microsoft.com/office/drawing/2014/main" id="{F93DDD07-8774-CD6D-3DDA-B92D51233405}"/>
                </a:ext>
              </a:extLst>
            </p:cNvPr>
            <p:cNvSpPr txBox="1">
              <a:spLocks/>
            </p:cNvSpPr>
            <p:nvPr>
              <p:custDataLst>
                <p:tags r:id="rId31"/>
              </p:custDataLst>
            </p:nvPr>
          </p:nvSpPr>
          <p:spPr>
            <a:xfrm>
              <a:off x="2092472" y="6507330"/>
              <a:ext cx="2650526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en-US" noProof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Dollars saved last quarter (route/scope adjustments)</a:t>
              </a:r>
            </a:p>
          </p:txBody>
        </p:sp>
        <p:sp>
          <p:nvSpPr>
            <p:cNvPr id="122" name="RBContent55">
              <a:extLst>
                <a:ext uri="{FF2B5EF4-FFF2-40B4-BE49-F238E27FC236}">
                  <a16:creationId xmlns:a16="http://schemas.microsoft.com/office/drawing/2014/main" id="{9CDEDDAD-A4D8-9D2D-933E-6B9EFA1E2A4E}"/>
                </a:ext>
              </a:extLst>
            </p:cNvPr>
            <p:cNvSpPr txBox="1">
              <a:spLocks/>
            </p:cNvSpPr>
            <p:nvPr>
              <p:custDataLst>
                <p:tags r:id="rId32"/>
              </p:custDataLst>
            </p:nvPr>
          </p:nvSpPr>
          <p:spPr>
            <a:xfrm>
              <a:off x="998664" y="6701229"/>
              <a:ext cx="798270" cy="3600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fr-FR" sz="2600" b="1" noProof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30k</a:t>
              </a:r>
            </a:p>
          </p:txBody>
        </p:sp>
      </p:grpSp>
      <p:cxnSp>
        <p:nvCxnSpPr>
          <p:cNvPr id="61" name="HorizontalLine9">
            <a:extLst>
              <a:ext uri="{FF2B5EF4-FFF2-40B4-BE49-F238E27FC236}">
                <a16:creationId xmlns:a16="http://schemas.microsoft.com/office/drawing/2014/main" id="{E177516B-66B5-BE02-181A-953AABDBADE9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>
          <a:xfrm>
            <a:off x="998664" y="7782375"/>
            <a:ext cx="3744335" cy="0"/>
          </a:xfrm>
          <a:prstGeom prst="line">
            <a:avLst/>
          </a:prstGeom>
          <a:noFill/>
          <a:ln w="6350" cap="flat" cmpd="sng" algn="ctr">
            <a:solidFill>
              <a:srgbClr val="DEE0E3">
                <a:lumMod val="90000"/>
              </a:srgbClr>
            </a:solidFill>
            <a:prstDash val="solid"/>
          </a:ln>
          <a:effectLst/>
        </p:spPr>
      </p:cxnSp>
      <p:cxnSp>
        <p:nvCxnSpPr>
          <p:cNvPr id="18" name="HorizontalLine9">
            <a:extLst>
              <a:ext uri="{FF2B5EF4-FFF2-40B4-BE49-F238E27FC236}">
                <a16:creationId xmlns:a16="http://schemas.microsoft.com/office/drawing/2014/main" id="{93036646-8280-6BBB-7315-46D63949B305}"/>
              </a:ext>
            </a:extLst>
          </p:cNvPr>
          <p:cNvCxnSpPr>
            <a:cxnSpLocks/>
          </p:cNvCxnSpPr>
          <p:nvPr>
            <p:custDataLst>
              <p:tags r:id="rId21"/>
            </p:custDataLst>
          </p:nvPr>
        </p:nvCxnSpPr>
        <p:spPr>
          <a:xfrm>
            <a:off x="998664" y="9173581"/>
            <a:ext cx="3744335" cy="0"/>
          </a:xfrm>
          <a:prstGeom prst="line">
            <a:avLst/>
          </a:prstGeom>
          <a:noFill/>
          <a:ln w="6350" cap="flat" cmpd="sng" algn="ctr">
            <a:solidFill>
              <a:srgbClr val="DEE0E3">
                <a:lumMod val="90000"/>
              </a:srgbClr>
            </a:solidFill>
            <a:prstDash val="solid"/>
          </a:ln>
          <a:effectLst/>
        </p:spPr>
      </p:cxnSp>
      <p:cxnSp>
        <p:nvCxnSpPr>
          <p:cNvPr id="19" name="HorizontalLine9">
            <a:extLst>
              <a:ext uri="{FF2B5EF4-FFF2-40B4-BE49-F238E27FC236}">
                <a16:creationId xmlns:a16="http://schemas.microsoft.com/office/drawing/2014/main" id="{72013DE1-FD87-E78E-478F-67F3BF2755B4}"/>
              </a:ext>
            </a:extLst>
          </p:cNvPr>
          <p:cNvCxnSpPr>
            <a:cxnSpLocks/>
          </p:cNvCxnSpPr>
          <p:nvPr>
            <p:custDataLst>
              <p:tags r:id="rId22"/>
            </p:custDataLst>
          </p:nvPr>
        </p:nvCxnSpPr>
        <p:spPr>
          <a:xfrm>
            <a:off x="998664" y="5065381"/>
            <a:ext cx="3744335" cy="0"/>
          </a:xfrm>
          <a:prstGeom prst="line">
            <a:avLst/>
          </a:prstGeom>
          <a:noFill/>
          <a:ln w="6350" cap="flat" cmpd="sng" algn="ctr">
            <a:solidFill>
              <a:srgbClr val="DEE0E3">
                <a:lumMod val="90000"/>
              </a:srgbClr>
            </a:solidFill>
            <a:prstDash val="solid"/>
          </a:ln>
          <a:effectLst/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889047-3EA7-E938-DDCA-63D79E235F78}"/>
              </a:ext>
            </a:extLst>
          </p:cNvPr>
          <p:cNvGrpSpPr/>
          <p:nvPr/>
        </p:nvGrpSpPr>
        <p:grpSpPr>
          <a:xfrm>
            <a:off x="12465493" y="4178306"/>
            <a:ext cx="5100342" cy="360099"/>
            <a:chOff x="998664" y="4178306"/>
            <a:chExt cx="5100342" cy="360099"/>
          </a:xfrm>
        </p:grpSpPr>
        <p:sp>
          <p:nvSpPr>
            <p:cNvPr id="22" name="RBContent55">
              <a:extLst>
                <a:ext uri="{FF2B5EF4-FFF2-40B4-BE49-F238E27FC236}">
                  <a16:creationId xmlns:a16="http://schemas.microsoft.com/office/drawing/2014/main" id="{0529DEDF-30D6-09F2-C322-5CA99C9CA6C8}"/>
                </a:ext>
              </a:extLst>
            </p:cNvPr>
            <p:cNvSpPr txBox="1">
              <a:spLocks/>
            </p:cNvSpPr>
            <p:nvPr>
              <p:custDataLst>
                <p:tags r:id="rId29"/>
              </p:custDataLst>
            </p:nvPr>
          </p:nvSpPr>
          <p:spPr>
            <a:xfrm>
              <a:off x="2092473" y="4202935"/>
              <a:ext cx="4006533" cy="2492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en-US" noProof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Open tickets</a:t>
              </a:r>
            </a:p>
          </p:txBody>
        </p:sp>
        <p:sp>
          <p:nvSpPr>
            <p:cNvPr id="23" name="RBContent55">
              <a:extLst>
                <a:ext uri="{FF2B5EF4-FFF2-40B4-BE49-F238E27FC236}">
                  <a16:creationId xmlns:a16="http://schemas.microsoft.com/office/drawing/2014/main" id="{F5451C46-DA05-7246-0F21-8F9BC1C4059A}"/>
                </a:ext>
              </a:extLst>
            </p:cNvPr>
            <p:cNvSpPr txBox="1">
              <a:spLocks/>
            </p:cNvSpPr>
            <p:nvPr>
              <p:custDataLst>
                <p:tags r:id="rId30"/>
              </p:custDataLst>
            </p:nvPr>
          </p:nvSpPr>
          <p:spPr>
            <a:xfrm>
              <a:off x="998664" y="4178306"/>
              <a:ext cx="798271" cy="3600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fr-FR" sz="2600" b="1" noProof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954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43ABD47-1921-1C7A-9142-1CCB61DC4F36}"/>
              </a:ext>
            </a:extLst>
          </p:cNvPr>
          <p:cNvGrpSpPr/>
          <p:nvPr/>
        </p:nvGrpSpPr>
        <p:grpSpPr>
          <a:xfrm>
            <a:off x="12465493" y="5589280"/>
            <a:ext cx="5100342" cy="360099"/>
            <a:chOff x="998664" y="4178306"/>
            <a:chExt cx="5100342" cy="360099"/>
          </a:xfrm>
        </p:grpSpPr>
        <p:sp>
          <p:nvSpPr>
            <p:cNvPr id="25" name="RBContent55">
              <a:extLst>
                <a:ext uri="{FF2B5EF4-FFF2-40B4-BE49-F238E27FC236}">
                  <a16:creationId xmlns:a16="http://schemas.microsoft.com/office/drawing/2014/main" id="{7D21A78D-7C58-4657-6A3C-77F9E0124253}"/>
                </a:ext>
              </a:extLst>
            </p:cNvPr>
            <p:cNvSpPr txBox="1">
              <a:spLocks/>
            </p:cNvSpPr>
            <p:nvPr>
              <p:custDataLst>
                <p:tags r:id="rId27"/>
              </p:custDataLst>
            </p:nvPr>
          </p:nvSpPr>
          <p:spPr>
            <a:xfrm>
              <a:off x="2092473" y="4202935"/>
              <a:ext cx="4006533" cy="2492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en-US" noProof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Tickets resolved</a:t>
              </a:r>
            </a:p>
          </p:txBody>
        </p:sp>
        <p:sp>
          <p:nvSpPr>
            <p:cNvPr id="26" name="RBContent55">
              <a:extLst>
                <a:ext uri="{FF2B5EF4-FFF2-40B4-BE49-F238E27FC236}">
                  <a16:creationId xmlns:a16="http://schemas.microsoft.com/office/drawing/2014/main" id="{8F3D91B2-EBC5-2EA6-5F94-68081800C94F}"/>
                </a:ext>
              </a:extLst>
            </p:cNvPr>
            <p:cNvSpPr txBox="1">
              <a:spLocks/>
            </p:cNvSpPr>
            <p:nvPr>
              <p:custDataLst>
                <p:tags r:id="rId28"/>
              </p:custDataLst>
            </p:nvPr>
          </p:nvSpPr>
          <p:spPr>
            <a:xfrm>
              <a:off x="998664" y="4178306"/>
              <a:ext cx="798271" cy="3600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fr-FR" sz="26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533</a:t>
              </a:r>
              <a:endParaRPr lang="fr-FR" sz="2600" b="1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A5A5E2C-E6AB-94F7-D282-01EE84F6C6E4}"/>
              </a:ext>
            </a:extLst>
          </p:cNvPr>
          <p:cNvGrpSpPr/>
          <p:nvPr/>
        </p:nvGrpSpPr>
        <p:grpSpPr>
          <a:xfrm>
            <a:off x="12465493" y="6979722"/>
            <a:ext cx="5100342" cy="360099"/>
            <a:chOff x="998664" y="4178306"/>
            <a:chExt cx="5100342" cy="360099"/>
          </a:xfrm>
        </p:grpSpPr>
        <p:sp>
          <p:nvSpPr>
            <p:cNvPr id="28" name="RBContent55">
              <a:extLst>
                <a:ext uri="{FF2B5EF4-FFF2-40B4-BE49-F238E27FC236}">
                  <a16:creationId xmlns:a16="http://schemas.microsoft.com/office/drawing/2014/main" id="{E276B88D-D5EE-74BA-42A5-E2F71ABE1D19}"/>
                </a:ext>
              </a:extLst>
            </p:cNvPr>
            <p:cNvSpPr txBox="1">
              <a:spLocks/>
            </p:cNvSpPr>
            <p:nvPr>
              <p:custDataLst>
                <p:tags r:id="rId25"/>
              </p:custDataLst>
            </p:nvPr>
          </p:nvSpPr>
          <p:spPr>
            <a:xfrm>
              <a:off x="2092473" y="4202935"/>
              <a:ext cx="4006533" cy="2492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en-US" noProof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Tickets closed</a:t>
              </a:r>
            </a:p>
          </p:txBody>
        </p:sp>
        <p:sp>
          <p:nvSpPr>
            <p:cNvPr id="29" name="RBContent55">
              <a:extLst>
                <a:ext uri="{FF2B5EF4-FFF2-40B4-BE49-F238E27FC236}">
                  <a16:creationId xmlns:a16="http://schemas.microsoft.com/office/drawing/2014/main" id="{8385EA25-FA15-C513-E5E1-80B1EC7E9848}"/>
                </a:ext>
              </a:extLst>
            </p:cNvPr>
            <p:cNvSpPr txBox="1">
              <a:spLocks/>
            </p:cNvSpPr>
            <p:nvPr>
              <p:custDataLst>
                <p:tags r:id="rId26"/>
              </p:custDataLst>
            </p:nvPr>
          </p:nvSpPr>
          <p:spPr>
            <a:xfrm>
              <a:off x="998664" y="4178306"/>
              <a:ext cx="798271" cy="3600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fr-FR" sz="2600" b="1" noProof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315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2278BE0-EBC6-8D97-C677-ED8ECC2D3D7F}"/>
              </a:ext>
            </a:extLst>
          </p:cNvPr>
          <p:cNvGrpSpPr/>
          <p:nvPr/>
        </p:nvGrpSpPr>
        <p:grpSpPr>
          <a:xfrm>
            <a:off x="12465493" y="8394276"/>
            <a:ext cx="5100342" cy="360099"/>
            <a:chOff x="998664" y="4178306"/>
            <a:chExt cx="5100342" cy="360099"/>
          </a:xfrm>
        </p:grpSpPr>
        <p:sp>
          <p:nvSpPr>
            <p:cNvPr id="31" name="RBContent55">
              <a:extLst>
                <a:ext uri="{FF2B5EF4-FFF2-40B4-BE49-F238E27FC236}">
                  <a16:creationId xmlns:a16="http://schemas.microsoft.com/office/drawing/2014/main" id="{BC912FA6-AC89-1BF1-50E1-6C84E0D3E046}"/>
                </a:ext>
              </a:extLst>
            </p:cNvPr>
            <p:cNvSpPr txBox="1">
              <a:spLocks/>
            </p:cNvSpPr>
            <p:nvPr>
              <p:custDataLst>
                <p:tags r:id="rId23"/>
              </p:custDataLst>
            </p:nvPr>
          </p:nvSpPr>
          <p:spPr>
            <a:xfrm>
              <a:off x="2092473" y="4202935"/>
              <a:ext cx="4006533" cy="2492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fr-FR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ABC</a:t>
              </a:r>
            </a:p>
          </p:txBody>
        </p:sp>
        <p:sp>
          <p:nvSpPr>
            <p:cNvPr id="32" name="RBContent55">
              <a:extLst>
                <a:ext uri="{FF2B5EF4-FFF2-40B4-BE49-F238E27FC236}">
                  <a16:creationId xmlns:a16="http://schemas.microsoft.com/office/drawing/2014/main" id="{82AF2072-0682-2549-D59D-FE5B034F2ED2}"/>
                </a:ext>
              </a:extLst>
            </p:cNvPr>
            <p:cNvSpPr txBox="1">
              <a:spLocks/>
            </p:cNvSpPr>
            <p:nvPr>
              <p:custDataLst>
                <p:tags r:id="rId24"/>
              </p:custDataLst>
            </p:nvPr>
          </p:nvSpPr>
          <p:spPr>
            <a:xfrm>
              <a:off x="998664" y="4178306"/>
              <a:ext cx="798271" cy="3600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ts val="369"/>
                </a:spcBef>
                <a:spcAft>
                  <a:spcPct val="0"/>
                </a:spcAft>
                <a:buSzPct val="100000"/>
              </a:pPr>
              <a:r>
                <a:rPr lang="fr-FR" sz="26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X</a:t>
              </a:r>
              <a:endParaRPr lang="fr-FR" sz="2600" b="1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7735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A12FD-60BF-28B4-BE9A-53F4BD323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36275C2-8276-BF1E-8BDE-08F564C344A8}"/>
              </a:ext>
            </a:extLst>
          </p:cNvPr>
          <p:cNvSpPr/>
          <p:nvPr/>
        </p:nvSpPr>
        <p:spPr>
          <a:xfrm rot="5408952">
            <a:off x="8966348" y="932222"/>
            <a:ext cx="355304" cy="18444099"/>
          </a:xfrm>
          <a:custGeom>
            <a:avLst/>
            <a:gdLst/>
            <a:ahLst/>
            <a:cxnLst/>
            <a:rect l="l" t="t" r="r" b="b"/>
            <a:pathLst>
              <a:path w="355304" h="18444099">
                <a:moveTo>
                  <a:pt x="0" y="0"/>
                </a:moveTo>
                <a:lnTo>
                  <a:pt x="355304" y="0"/>
                </a:lnTo>
                <a:lnTo>
                  <a:pt x="355304" y="18444099"/>
                </a:lnTo>
                <a:lnTo>
                  <a:pt x="0" y="1844409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381270" r="-52883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AB92959-2D19-69DC-EA70-D5B41C2383F4}"/>
              </a:ext>
            </a:extLst>
          </p:cNvPr>
          <p:cNvSpPr txBox="1"/>
          <p:nvPr/>
        </p:nvSpPr>
        <p:spPr>
          <a:xfrm>
            <a:off x="809625" y="1452822"/>
            <a:ext cx="13134975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39"/>
              </a:lnSpc>
              <a:spcBef>
                <a:spcPct val="0"/>
              </a:spcBef>
            </a:pPr>
            <a:r>
              <a:rPr lang="en-US" sz="6999" b="1" noProof="0" dirty="0">
                <a:solidFill>
                  <a:srgbClr val="00467F"/>
                </a:solidFill>
                <a:latin typeface="Arial" panose="020B0604020202020204" pitchFamily="34" charset="0"/>
                <a:cs typeface="Arial" panose="020B0604020202020204" pitchFamily="34" charset="0"/>
                <a:sym typeface="Myriad Pro 2"/>
              </a:rPr>
              <a:t>WHAT’S NEXT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A49EE7-F8E9-FA73-8CD4-4CA1FF1AFBD6}"/>
              </a:ext>
            </a:extLst>
          </p:cNvPr>
          <p:cNvGrpSpPr/>
          <p:nvPr/>
        </p:nvGrpSpPr>
        <p:grpSpPr>
          <a:xfrm>
            <a:off x="14401800" y="364682"/>
            <a:ext cx="3540175" cy="497857"/>
            <a:chOff x="13843616" y="809625"/>
            <a:chExt cx="3540175" cy="497857"/>
          </a:xfrm>
        </p:grpSpPr>
        <p:sp>
          <p:nvSpPr>
            <p:cNvPr id="8" name="AutoShape 23">
              <a:extLst>
                <a:ext uri="{FF2B5EF4-FFF2-40B4-BE49-F238E27FC236}">
                  <a16:creationId xmlns:a16="http://schemas.microsoft.com/office/drawing/2014/main" id="{6D89D5E7-84E4-816A-D315-B0060279786C}"/>
                </a:ext>
              </a:extLst>
            </p:cNvPr>
            <p:cNvSpPr/>
            <p:nvPr/>
          </p:nvSpPr>
          <p:spPr>
            <a:xfrm>
              <a:off x="15145390" y="855982"/>
              <a:ext cx="0" cy="405142"/>
            </a:xfrm>
            <a:prstGeom prst="line">
              <a:avLst/>
            </a:prstGeom>
            <a:ln w="9525" cap="flat">
              <a:solidFill>
                <a:srgbClr val="00467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Picture 8" descr="A blue and red logo&#10;&#10;AI-generated content may be incorrect.">
              <a:extLst>
                <a:ext uri="{FF2B5EF4-FFF2-40B4-BE49-F238E27FC236}">
                  <a16:creationId xmlns:a16="http://schemas.microsoft.com/office/drawing/2014/main" id="{06DD7944-FF12-03F2-0CBD-76DABB270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31127" y="865936"/>
              <a:ext cx="2052664" cy="385234"/>
            </a:xfrm>
            <a:prstGeom prst="rect">
              <a:avLst/>
            </a:prstGeom>
          </p:spPr>
        </p:pic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81A0DEFE-1F60-02DD-4DE2-45CAA637C0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43616" y="809625"/>
              <a:ext cx="1116036" cy="4978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0C21B5-DED8-70F2-A712-E64477E96C7C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>
            <a:off x="946266" y="9563100"/>
            <a:ext cx="16542298" cy="0"/>
          </a:xfrm>
          <a:prstGeom prst="line">
            <a:avLst/>
          </a:prstGeom>
          <a:noFill/>
          <a:ln w="9525" cap="flat" cmpd="sng" algn="ctr">
            <a:solidFill>
              <a:srgbClr val="DEE0E3"/>
            </a:solidFill>
            <a:prstDash val="soli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B668C2-519C-A8C6-1E62-3F3ED99370B1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946266" y="3086100"/>
            <a:ext cx="16542298" cy="0"/>
          </a:xfrm>
          <a:prstGeom prst="line">
            <a:avLst/>
          </a:prstGeom>
          <a:noFill/>
          <a:ln w="9525" cap="flat" cmpd="sng" algn="ctr">
            <a:solidFill>
              <a:srgbClr val="DEE0E3"/>
            </a:solidFill>
            <a:prstDash val="solid"/>
          </a:ln>
          <a:effectLst/>
        </p:spPr>
      </p:cxnSp>
      <p:sp>
        <p:nvSpPr>
          <p:cNvPr id="14" name="Freeform 8">
            <a:extLst>
              <a:ext uri="{FF2B5EF4-FFF2-40B4-BE49-F238E27FC236}">
                <a16:creationId xmlns:a16="http://schemas.microsoft.com/office/drawing/2014/main" id="{1335AC09-275B-3938-36F9-95B46459AD3C}"/>
              </a:ext>
            </a:extLst>
          </p:cNvPr>
          <p:cNvSpPr/>
          <p:nvPr/>
        </p:nvSpPr>
        <p:spPr>
          <a:xfrm>
            <a:off x="18275085" y="-1"/>
            <a:ext cx="3365715" cy="10355933"/>
          </a:xfrm>
          <a:custGeom>
            <a:avLst/>
            <a:gdLst/>
            <a:ahLst/>
            <a:cxnLst/>
            <a:rect l="l" t="t" r="r" b="b"/>
            <a:pathLst>
              <a:path w="1386901" h="445174">
                <a:moveTo>
                  <a:pt x="74980" y="0"/>
                </a:moveTo>
                <a:lnTo>
                  <a:pt x="1311921" y="0"/>
                </a:lnTo>
                <a:cubicBezTo>
                  <a:pt x="1353331" y="0"/>
                  <a:pt x="1386901" y="33570"/>
                  <a:pt x="1386901" y="74980"/>
                </a:cubicBezTo>
                <a:lnTo>
                  <a:pt x="1386901" y="370194"/>
                </a:lnTo>
                <a:cubicBezTo>
                  <a:pt x="1386901" y="411604"/>
                  <a:pt x="1353331" y="445174"/>
                  <a:pt x="1311921" y="445174"/>
                </a:cubicBezTo>
                <a:lnTo>
                  <a:pt x="74980" y="445174"/>
                </a:lnTo>
                <a:cubicBezTo>
                  <a:pt x="33570" y="445174"/>
                  <a:pt x="0" y="411604"/>
                  <a:pt x="0" y="370194"/>
                </a:cubicBezTo>
                <a:lnTo>
                  <a:pt x="0" y="74980"/>
                </a:lnTo>
                <a:cubicBezTo>
                  <a:pt x="0" y="33570"/>
                  <a:pt x="33570" y="0"/>
                  <a:pt x="74980" y="0"/>
                </a:cubicBezTo>
                <a:close/>
              </a:path>
            </a:pathLst>
          </a:custGeom>
          <a:solidFill>
            <a:srgbClr val="FFFC00"/>
          </a:solidFill>
          <a:ln w="38100" cap="rnd">
            <a:solidFill>
              <a:srgbClr val="CE1141"/>
            </a:solidFill>
            <a:prstDash val="solid"/>
            <a:round/>
          </a:ln>
        </p:spPr>
        <p:txBody>
          <a:bodyPr anchor="ctr"/>
          <a:lstStyle/>
          <a:p>
            <a:r>
              <a:rPr lang="fr-CA" sz="2400" dirty="0"/>
              <a:t>Aperçu des priorités et initiatives prévues pour le prochain trimestre.</a:t>
            </a:r>
          </a:p>
          <a:p>
            <a:endParaRPr lang="fr-CA" sz="2400" dirty="0"/>
          </a:p>
          <a:p>
            <a:r>
              <a:rPr lang="fr-CA" sz="2400" dirty="0"/>
              <a:t>Cette section présente ce qui s'en vient : actions planifiées, améliorations en cours de déploiement, formations à venir, ou tout autre développement pertinent pour le compte. </a:t>
            </a:r>
          </a:p>
          <a:p>
            <a:endParaRPr lang="fr-CA" sz="2400" dirty="0"/>
          </a:p>
          <a:p>
            <a:r>
              <a:rPr lang="fr-CA" sz="2400" dirty="0"/>
              <a:t>L'objectif est de démontrer au client que le compte est géré de façon proactive et que l'équipe anticipe les besoins plutôt que de simplement réagir.</a:t>
            </a:r>
            <a:endParaRPr lang="en-US" sz="24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B1B663-0E8C-9621-1298-287137AB831B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1098666" y="5138967"/>
            <a:ext cx="16542298" cy="0"/>
          </a:xfrm>
          <a:prstGeom prst="line">
            <a:avLst/>
          </a:prstGeom>
          <a:noFill/>
          <a:ln w="9525" cap="flat" cmpd="sng" algn="ctr">
            <a:solidFill>
              <a:srgbClr val="DEE0E3"/>
            </a:solidFill>
            <a:prstDash val="soli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3613DA-9D76-2605-AB90-1E6CB5E8396E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1098666" y="7427232"/>
            <a:ext cx="16542298" cy="0"/>
          </a:xfrm>
          <a:prstGeom prst="line">
            <a:avLst/>
          </a:prstGeom>
          <a:noFill/>
          <a:ln w="9525" cap="flat" cmpd="sng" algn="ctr">
            <a:solidFill>
              <a:srgbClr val="DEE0E3"/>
            </a:solidFill>
            <a:prstDash val="solid"/>
          </a:ln>
          <a:effectLst/>
        </p:spPr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7AA3091-A77C-C99D-7644-6D2D83ABCCC4}"/>
              </a:ext>
            </a:extLst>
          </p:cNvPr>
          <p:cNvGrpSpPr/>
          <p:nvPr/>
        </p:nvGrpSpPr>
        <p:grpSpPr>
          <a:xfrm>
            <a:off x="962026" y="3722888"/>
            <a:ext cx="16563974" cy="931691"/>
            <a:chOff x="809625" y="3086100"/>
            <a:chExt cx="17017967" cy="93169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FC5FFE-5FE0-97FC-7C88-8A1028A304CB}"/>
                </a:ext>
              </a:extLst>
            </p:cNvPr>
            <p:cNvSpPr>
              <a:spLocks/>
            </p:cNvSpPr>
            <p:nvPr>
              <p:custDataLst>
                <p:tags r:id="rId9"/>
              </p:custDataLst>
            </p:nvPr>
          </p:nvSpPr>
          <p:spPr>
            <a:xfrm>
              <a:off x="1815224" y="3086100"/>
              <a:ext cx="16012368" cy="931691"/>
            </a:xfrm>
            <a:prstGeom prst="rect">
              <a:avLst/>
            </a:prstGeom>
          </p:spPr>
          <p:txBody>
            <a:bodyPr wrap="square" tIns="54000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lang="en-US" sz="3200" b="1" dirty="0">
                  <a:solidFill>
                    <a:srgbClr val="000000"/>
                  </a:solidFill>
                  <a:latin typeface="Arial Narrow"/>
                  <a:sym typeface="+mn-lt"/>
                </a:rPr>
                <a:t>GDI CleanCorrect</a:t>
              </a:r>
            </a:p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lang="en-US" sz="2800" dirty="0">
                  <a:solidFill>
                    <a:srgbClr val="156C9C"/>
                  </a:solidFill>
                  <a:latin typeface="Arial Narrow"/>
                  <a:sym typeface="+mn-lt"/>
                </a:rPr>
                <a:t>Launch of the GDI CleanCorrect app on May 1, 2025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CF43BAE-104C-6B99-B617-C44F6FB6A835}"/>
                </a:ext>
              </a:extLst>
            </p:cNvPr>
            <p:cNvSpPr>
              <a:spLocks/>
            </p:cNvSpPr>
            <p:nvPr>
              <p:custDataLst>
                <p:tags r:id="rId10"/>
              </p:custDataLst>
            </p:nvPr>
          </p:nvSpPr>
          <p:spPr>
            <a:xfrm>
              <a:off x="809625" y="3086100"/>
              <a:ext cx="1025119" cy="931690"/>
            </a:xfrm>
            <a:prstGeom prst="rect">
              <a:avLst/>
            </a:prstGeom>
          </p:spPr>
          <p:txBody>
            <a:bodyPr wrap="square" tIns="54000">
              <a:spAutoFit/>
            </a:bodyPr>
            <a:lstStyle/>
            <a:p>
              <a:pPr fontAlgn="base">
                <a:lnSpc>
                  <a:spcPct val="90000"/>
                </a:lnSpc>
                <a:spcAft>
                  <a:spcPct val="0"/>
                </a:spcAft>
                <a:buSzPct val="100000"/>
              </a:pPr>
              <a:r>
                <a:rPr lang="en-US" sz="6000" dirty="0">
                  <a:solidFill>
                    <a:srgbClr val="000000"/>
                  </a:solidFill>
                  <a:latin typeface="Arial Narrow"/>
                  <a:sym typeface="+mn-lt"/>
                </a:rPr>
                <a:t>1.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E635E89-4EAB-FF9F-DB98-C23ECCA49767}"/>
              </a:ext>
            </a:extLst>
          </p:cNvPr>
          <p:cNvGrpSpPr/>
          <p:nvPr/>
        </p:nvGrpSpPr>
        <p:grpSpPr>
          <a:xfrm>
            <a:off x="962026" y="5623355"/>
            <a:ext cx="16563974" cy="931691"/>
            <a:chOff x="809625" y="4233681"/>
            <a:chExt cx="17017967" cy="931691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13B6BEA-0D6A-DA96-0130-BB9F93038A71}"/>
                </a:ext>
              </a:extLst>
            </p:cNvPr>
            <p:cNvSpPr>
              <a:spLocks/>
            </p:cNvSpPr>
            <p:nvPr>
              <p:custDataLst>
                <p:tags r:id="rId7"/>
              </p:custDataLst>
            </p:nvPr>
          </p:nvSpPr>
          <p:spPr>
            <a:xfrm>
              <a:off x="1815224" y="4233681"/>
              <a:ext cx="16012368" cy="931691"/>
            </a:xfrm>
            <a:prstGeom prst="rect">
              <a:avLst/>
            </a:prstGeom>
          </p:spPr>
          <p:txBody>
            <a:bodyPr wrap="square" tIns="54000" rIns="0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lang="en-US" sz="3200" b="1" dirty="0">
                  <a:solidFill>
                    <a:srgbClr val="000000"/>
                  </a:solidFill>
                  <a:latin typeface="Arial Narrow"/>
                  <a:sym typeface="+mn-lt"/>
                </a:rPr>
                <a:t>Exterior Parking</a:t>
              </a:r>
            </a:p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lang="en-US" sz="2800" dirty="0">
                  <a:solidFill>
                    <a:srgbClr val="156C9C"/>
                  </a:solidFill>
                  <a:latin typeface="Arial Narrow"/>
                  <a:sym typeface="+mn-lt"/>
                </a:rPr>
                <a:t>We will carry out the spring cleaning during the first two weeks of June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D110762-5C51-18C0-EF65-C3613017F8F8}"/>
                </a:ext>
              </a:extLst>
            </p:cNvPr>
            <p:cNvSpPr>
              <a:spLocks/>
            </p:cNvSpPr>
            <p:nvPr>
              <p:custDataLst>
                <p:tags r:id="rId8"/>
              </p:custDataLst>
            </p:nvPr>
          </p:nvSpPr>
          <p:spPr>
            <a:xfrm>
              <a:off x="809625" y="4233681"/>
              <a:ext cx="1025119" cy="931690"/>
            </a:xfrm>
            <a:prstGeom prst="rect">
              <a:avLst/>
            </a:prstGeom>
          </p:spPr>
          <p:txBody>
            <a:bodyPr wrap="square" tIns="54000" rIns="0">
              <a:spAutoFit/>
            </a:bodyPr>
            <a:lstStyle/>
            <a:p>
              <a:pPr fontAlgn="base">
                <a:lnSpc>
                  <a:spcPct val="90000"/>
                </a:lnSpc>
                <a:spcAft>
                  <a:spcPct val="0"/>
                </a:spcAft>
                <a:buSzPct val="100000"/>
              </a:pPr>
              <a:r>
                <a:rPr lang="en-US" sz="6000" dirty="0">
                  <a:solidFill>
                    <a:srgbClr val="000000"/>
                  </a:solidFill>
                  <a:latin typeface="Arial Narrow"/>
                  <a:sym typeface="+mn-lt"/>
                </a:rPr>
                <a:t>2.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2CE6730-2C00-1EDB-8FCF-32D2189F5C99}"/>
              </a:ext>
            </a:extLst>
          </p:cNvPr>
          <p:cNvGrpSpPr/>
          <p:nvPr/>
        </p:nvGrpSpPr>
        <p:grpSpPr>
          <a:xfrm>
            <a:off x="962026" y="7911620"/>
            <a:ext cx="16563974" cy="931691"/>
            <a:chOff x="809625" y="5381265"/>
            <a:chExt cx="17017967" cy="93169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14E4CCC-5B33-5F95-281B-823F2019D3AE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>
            <a:xfrm>
              <a:off x="1815224" y="5381265"/>
              <a:ext cx="16012368" cy="931691"/>
            </a:xfrm>
            <a:prstGeom prst="rect">
              <a:avLst/>
            </a:prstGeom>
          </p:spPr>
          <p:txBody>
            <a:bodyPr wrap="square" tIns="54000" rIns="0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lang="en-US" sz="3200" b="1" dirty="0">
                  <a:solidFill>
                    <a:srgbClr val="000000"/>
                  </a:solidFill>
                  <a:latin typeface="Arial Narrow"/>
                  <a:sym typeface="+mn-lt"/>
                </a:rPr>
                <a:t>Next Quarterly Review</a:t>
              </a:r>
            </a:p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100000"/>
              </a:pPr>
              <a:r>
                <a:rPr lang="en-US" sz="2800" dirty="0">
                  <a:solidFill>
                    <a:srgbClr val="156C9C"/>
                  </a:solidFill>
                  <a:latin typeface="Arial Narrow"/>
                  <a:sym typeface="+mn-lt"/>
                </a:rPr>
                <a:t>We propose meeting on July 16, 2025 to review Q2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2F16ACD-B112-5907-4937-4A5A4AA1C728}"/>
                </a:ext>
              </a:extLst>
            </p:cNvPr>
            <p:cNvSpPr>
              <a:spLocks/>
            </p:cNvSpPr>
            <p:nvPr>
              <p:custDataLst>
                <p:tags r:id="rId6"/>
              </p:custDataLst>
            </p:nvPr>
          </p:nvSpPr>
          <p:spPr>
            <a:xfrm>
              <a:off x="809625" y="5381265"/>
              <a:ext cx="1025119" cy="931690"/>
            </a:xfrm>
            <a:prstGeom prst="rect">
              <a:avLst/>
            </a:prstGeom>
          </p:spPr>
          <p:txBody>
            <a:bodyPr wrap="square" tIns="54000" rIns="0">
              <a:spAutoFit/>
            </a:bodyPr>
            <a:lstStyle/>
            <a:p>
              <a:pPr fontAlgn="base">
                <a:lnSpc>
                  <a:spcPct val="90000"/>
                </a:lnSpc>
                <a:spcAft>
                  <a:spcPct val="0"/>
                </a:spcAft>
                <a:buSzPct val="100000"/>
              </a:pPr>
              <a:r>
                <a:rPr lang="en-US" sz="6000" dirty="0">
                  <a:solidFill>
                    <a:srgbClr val="000000"/>
                  </a:solidFill>
                  <a:latin typeface="Arial Narrow"/>
                  <a:sym typeface="+mn-lt"/>
                </a:rPr>
                <a:t>3.</a:t>
              </a:r>
              <a:endParaRPr lang="en-US" sz="6000" spc="-10" dirty="0">
                <a:solidFill>
                  <a:srgbClr val="000000"/>
                </a:solidFill>
                <a:latin typeface="Arial Narrow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1452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B3C8-D979-67CF-6CA7-C14124628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28482B-F27E-2FDC-09B3-C9C9AC5315C9}"/>
              </a:ext>
            </a:extLst>
          </p:cNvPr>
          <p:cNvSpPr/>
          <p:nvPr/>
        </p:nvSpPr>
        <p:spPr>
          <a:xfrm rot="-144867" flipH="1">
            <a:off x="7975116" y="-138820"/>
            <a:ext cx="10063487" cy="12052080"/>
          </a:xfrm>
          <a:custGeom>
            <a:avLst/>
            <a:gdLst/>
            <a:ahLst/>
            <a:cxnLst/>
            <a:rect l="l" t="t" r="r" b="b"/>
            <a:pathLst>
              <a:path w="10063487" h="12052080">
                <a:moveTo>
                  <a:pt x="10063487" y="0"/>
                </a:moveTo>
                <a:lnTo>
                  <a:pt x="0" y="0"/>
                </a:lnTo>
                <a:lnTo>
                  <a:pt x="0" y="12052079"/>
                </a:lnTo>
                <a:lnTo>
                  <a:pt x="10063487" y="12052079"/>
                </a:lnTo>
                <a:lnTo>
                  <a:pt x="10063487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65740B8-895F-15B3-D3DA-A0C6FC98BFCC}"/>
              </a:ext>
            </a:extLst>
          </p:cNvPr>
          <p:cNvSpPr/>
          <p:nvPr/>
        </p:nvSpPr>
        <p:spPr>
          <a:xfrm rot="5408952">
            <a:off x="8887867" y="932222"/>
            <a:ext cx="355304" cy="18444099"/>
          </a:xfrm>
          <a:custGeom>
            <a:avLst/>
            <a:gdLst/>
            <a:ahLst/>
            <a:cxnLst/>
            <a:rect l="l" t="t" r="r" b="b"/>
            <a:pathLst>
              <a:path w="355304" h="18444099">
                <a:moveTo>
                  <a:pt x="0" y="0"/>
                </a:moveTo>
                <a:lnTo>
                  <a:pt x="355304" y="0"/>
                </a:lnTo>
                <a:lnTo>
                  <a:pt x="355304" y="18444099"/>
                </a:lnTo>
                <a:lnTo>
                  <a:pt x="0" y="184440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81270" r="-52883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42F688B-2BBE-4CD1-2FD9-A2238895EB56}"/>
              </a:ext>
            </a:extLst>
          </p:cNvPr>
          <p:cNvSpPr txBox="1"/>
          <p:nvPr/>
        </p:nvSpPr>
        <p:spPr>
          <a:xfrm>
            <a:off x="1028700" y="2550434"/>
            <a:ext cx="10729637" cy="2071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11"/>
              </a:lnSpc>
              <a:spcBef>
                <a:spcPct val="0"/>
              </a:spcBef>
            </a:pPr>
            <a:r>
              <a:rPr lang="en-US" sz="12651" b="1" dirty="0">
                <a:solidFill>
                  <a:srgbClr val="00467F"/>
                </a:solidFill>
                <a:latin typeface="Arial" panose="020B0604020202020204" pitchFamily="34" charset="0"/>
                <a:ea typeface="Myriad Pro 2"/>
                <a:cs typeface="Arial" panose="020B0604020202020204" pitchFamily="34" charset="0"/>
                <a:sym typeface="Myriad Pro 2"/>
              </a:rPr>
              <a:t>QUESTIONS?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E507388-6DB4-72D4-865A-E8B71561B247}"/>
              </a:ext>
            </a:extLst>
          </p:cNvPr>
          <p:cNvSpPr/>
          <p:nvPr/>
        </p:nvSpPr>
        <p:spPr>
          <a:xfrm>
            <a:off x="9923696" y="1363233"/>
            <a:ext cx="8364304" cy="9824197"/>
          </a:xfrm>
          <a:custGeom>
            <a:avLst/>
            <a:gdLst/>
            <a:ahLst/>
            <a:cxnLst/>
            <a:rect l="l" t="t" r="r" b="b"/>
            <a:pathLst>
              <a:path w="8364304" h="9824197">
                <a:moveTo>
                  <a:pt x="0" y="0"/>
                </a:moveTo>
                <a:lnTo>
                  <a:pt x="8364304" y="0"/>
                </a:lnTo>
                <a:lnTo>
                  <a:pt x="8364304" y="9824197"/>
                </a:lnTo>
                <a:lnTo>
                  <a:pt x="0" y="9824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654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E7451D6-9CB8-B9C3-C094-7C2C2DF2BFD9}"/>
              </a:ext>
            </a:extLst>
          </p:cNvPr>
          <p:cNvSpPr txBox="1"/>
          <p:nvPr/>
        </p:nvSpPr>
        <p:spPr>
          <a:xfrm>
            <a:off x="1167968" y="1608639"/>
            <a:ext cx="4880169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4"/>
              </a:lnSpc>
              <a:spcBef>
                <a:spcPct val="0"/>
              </a:spcBef>
            </a:pPr>
            <a:r>
              <a:rPr lang="en-US" sz="4174" dirty="0">
                <a:solidFill>
                  <a:srgbClr val="646464"/>
                </a:solidFill>
                <a:latin typeface="Arial" panose="020B0604020202020204" pitchFamily="34" charset="0"/>
                <a:ea typeface="Myriad Pro 1"/>
                <a:cs typeface="Arial" panose="020B0604020202020204" pitchFamily="34" charset="0"/>
                <a:sym typeface="Myriad Pro 1"/>
              </a:rPr>
              <a:t>Thank you!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6DEC420-D003-BA8C-2D3B-06E250284286}"/>
              </a:ext>
            </a:extLst>
          </p:cNvPr>
          <p:cNvGrpSpPr/>
          <p:nvPr/>
        </p:nvGrpSpPr>
        <p:grpSpPr>
          <a:xfrm>
            <a:off x="14401800" y="364682"/>
            <a:ext cx="3540175" cy="497857"/>
            <a:chOff x="13843616" y="809625"/>
            <a:chExt cx="3540175" cy="497857"/>
          </a:xfrm>
        </p:grpSpPr>
        <p:sp>
          <p:nvSpPr>
            <p:cNvPr id="9" name="AutoShape 23">
              <a:extLst>
                <a:ext uri="{FF2B5EF4-FFF2-40B4-BE49-F238E27FC236}">
                  <a16:creationId xmlns:a16="http://schemas.microsoft.com/office/drawing/2014/main" id="{FB460DE2-D681-643B-A211-34FFE1954289}"/>
                </a:ext>
              </a:extLst>
            </p:cNvPr>
            <p:cNvSpPr/>
            <p:nvPr/>
          </p:nvSpPr>
          <p:spPr>
            <a:xfrm>
              <a:off x="15145390" y="855982"/>
              <a:ext cx="0" cy="405142"/>
            </a:xfrm>
            <a:prstGeom prst="line">
              <a:avLst/>
            </a:prstGeom>
            <a:ln w="9525" cap="flat">
              <a:solidFill>
                <a:srgbClr val="00467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A blue and red logo&#10;&#10;AI-generated content may be incorrect.">
              <a:extLst>
                <a:ext uri="{FF2B5EF4-FFF2-40B4-BE49-F238E27FC236}">
                  <a16:creationId xmlns:a16="http://schemas.microsoft.com/office/drawing/2014/main" id="{8C95E643-79E1-FC0C-7682-8446BB39F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31127" y="865936"/>
              <a:ext cx="2052664" cy="385234"/>
            </a:xfrm>
            <a:prstGeom prst="rect">
              <a:avLst/>
            </a:prstGeom>
          </p:spPr>
        </p:pic>
        <p:pic>
          <p:nvPicPr>
            <p:cNvPr id="13" name="Picture 10">
              <a:extLst>
                <a:ext uri="{FF2B5EF4-FFF2-40B4-BE49-F238E27FC236}">
                  <a16:creationId xmlns:a16="http://schemas.microsoft.com/office/drawing/2014/main" id="{5955EB05-EE1F-1F0F-FD48-79603B1EEB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43616" y="809625"/>
              <a:ext cx="1116036" cy="4978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806885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02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3914FA8-EB32-4222-A549-3E7BEE34DF01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868ece4a-09a9-46d4-bf56-fb4e4873660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DCDateModified xmlns="http://schemas.microsoft.com/sharepoint/v3/fields" xsi:nil="true"/>
    <TaxCatchAll xmlns="c74671b7-686c-4866-85bd-9187de390188"/>
    <_ip_UnifiedCompliancePolicyProperties xmlns="http://schemas.microsoft.com/sharepoint/v3" xsi:nil="true"/>
    <ztaa xmlns="00f2d223-cc4d-4ad9-8f86-aa64a734f3b8" xsi:nil="true"/>
    <lcf76f155ced4ddcb4097134ff3c332f xmlns="00f2d223-cc4d-4ad9-8f86-aa64a734f3b8">
      <Terms xmlns="http://schemas.microsoft.com/office/infopath/2007/PartnerControls"/>
    </lcf76f155ced4ddcb4097134ff3c332f>
    <Description0 xmlns="00f2d223-cc4d-4ad9-8f86-aa64a734f3b8" xsi:nil="true"/>
    <_DCDateCreated xmlns="http://schemas.microsoft.com/sharepoint/v3/fields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51C23626819946BB372667208588FF" ma:contentTypeVersion="25" ma:contentTypeDescription="Create a new document." ma:contentTypeScope="" ma:versionID="58da4917531e7a8267983aaf37a4ec5b">
  <xsd:schema xmlns:xsd="http://www.w3.org/2001/XMLSchema" xmlns:xs="http://www.w3.org/2001/XMLSchema" xmlns:p="http://schemas.microsoft.com/office/2006/metadata/properties" xmlns:ns1="http://schemas.microsoft.com/sharepoint/v3" xmlns:ns2="c74671b7-686c-4866-85bd-9187de390188" xmlns:ns3="00f2d223-cc4d-4ad9-8f86-aa64a734f3b8" xmlns:ns4="http://schemas.microsoft.com/sharepoint/v3/fields" targetNamespace="http://schemas.microsoft.com/office/2006/metadata/properties" ma:root="true" ma:fieldsID="4f6d02989e9fe609771fa207d75af890" ns1:_="" ns2:_="" ns3:_="" ns4:_="">
    <xsd:import namespace="http://schemas.microsoft.com/sharepoint/v3"/>
    <xsd:import namespace="c74671b7-686c-4866-85bd-9187de390188"/>
    <xsd:import namespace="00f2d223-cc4d-4ad9-8f86-aa64a734f3b8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AutoKeyPoints" minOccurs="0"/>
                <xsd:element ref="ns3:MediaServiceKeyPoints" minOccurs="0"/>
                <xsd:element ref="ns3:Description0" minOccurs="0"/>
                <xsd:element ref="ns4:_DCDateModified" minOccurs="0"/>
                <xsd:element ref="ns4:_DCDateCreated" minOccurs="0"/>
                <xsd:element ref="ns3:ztaa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4671b7-686c-4866-85bd-9187de39018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9" nillable="true" ma:displayName="Taxonomy Catch All Column" ma:hidden="true" ma:list="{74aa01cd-d6f4-4aa9-9645-140100a82a9c}" ma:internalName="TaxCatchAll" ma:showField="CatchAllData" ma:web="c74671b7-686c-4866-85bd-9187de3901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f2d223-cc4d-4ad9-8f86-aa64a734f3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escription0" ma:index="22" nillable="true" ma:displayName="Description" ma:description="Main Corporate Shared Folder" ma:internalName="Description0">
      <xsd:simpleType>
        <xsd:restriction base="dms:Note">
          <xsd:maxLength value="255"/>
        </xsd:restriction>
      </xsd:simpleType>
    </xsd:element>
    <xsd:element name="ztaa" ma:index="25" nillable="true" ma:displayName="Date and time" ma:internalName="ztaa">
      <xsd:simpleType>
        <xsd:restriction base="dms:DateTime"/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8" nillable="true" ma:taxonomy="true" ma:internalName="lcf76f155ced4ddcb4097134ff3c332f" ma:taxonomyFieldName="MediaServiceImageTags" ma:displayName="Image Tags" ma:readOnly="false" ma:fieldId="{5cf76f15-5ced-4ddc-b409-7134ff3c332f}" ma:taxonomyMulti="true" ma:sspId="5a07ef54-d217-4b15-a604-6acca8ca55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DCDateModified" ma:index="23" nillable="true" ma:displayName="Date Modified" ma:description="The date on which this resource was last modified" ma:format="DateTime" ma:internalName="_DCDateModified">
      <xsd:simpleType>
        <xsd:restriction base="dms:DateTime"/>
      </xsd:simpleType>
    </xsd:element>
    <xsd:element name="_DCDateCreated" ma:index="24" nillable="true" ma:displayName="Date Created" ma:description="The date on which this resource was created" ma:format="DateTime" ma:internalName="_DCDateCreated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8B919D-E38E-44BA-91B8-8ED2ACFEE65D}">
  <ds:schemaRefs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00f2d223-cc4d-4ad9-8f86-aa64a734f3b8"/>
    <ds:schemaRef ds:uri="c74671b7-686c-4866-85bd-9187de390188"/>
    <ds:schemaRef ds:uri="http://schemas.microsoft.com/sharepoint/v3/fields"/>
    <ds:schemaRef ds:uri="http://schemas.microsoft.com/sharepoint/v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4D94F52-7A21-44CC-95CD-DA0A2DFD47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281A6A-ACE7-4A27-A0A7-EE5152A132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74671b7-686c-4866-85bd-9187de390188"/>
    <ds:schemaRef ds:uri="00f2d223-cc4d-4ad9-8f86-aa64a734f3b8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41cbb67-17cf-4249-afd4-de96c5f3cbfc}" enabled="0" method="" siteId="{741cbb67-17cf-4249-afd4-de96c5f3cbf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25806</TotalTime>
  <Words>753</Words>
  <Application>Microsoft Office PowerPoint</Application>
  <PresentationFormat>Custom</PresentationFormat>
  <Paragraphs>142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Myriad Pro 1</vt:lpstr>
      <vt:lpstr>Arial Narrow</vt:lpstr>
      <vt:lpstr>Calibri</vt:lpstr>
      <vt:lpstr>Aptos</vt:lpstr>
      <vt:lpstr>Arial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Template</dc:title>
  <dc:creator>Rajiv Uttamchandani</dc:creator>
  <cp:lastModifiedBy>Luke Stevens</cp:lastModifiedBy>
  <cp:revision>40</cp:revision>
  <dcterms:created xsi:type="dcterms:W3CDTF">2006-08-16T00:00:00Z</dcterms:created>
  <dcterms:modified xsi:type="dcterms:W3CDTF">2026-05-29T23:25:02Z</dcterms:modified>
  <dc:identifier>DAGObIJbD3Q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0x010100CC51C23626819946BB372667208588FF</vt:lpwstr>
  </property>
</Properties>
</file>